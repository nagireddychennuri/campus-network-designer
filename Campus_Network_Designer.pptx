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3" r:id="rId8"/>
    <p:sldId id="262"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785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tool that designs the cheapest network connecting all campus buildings, using Kruskal's algorithm. Replace the bracketed placeholders with your details.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laying cable between every pair of buildings is wasteful. Objective: find the MST - the cheapest set of connections that still links every building. Lower cost, less maintenance, no redundant loops.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Kruskal's is greedy: sort all possible cables by cost and keep adding the cheapest one that does not create a cycle. Union-Find tells us in near-constant time whether two buildings are already connected. The graph on the right is the example used in the rest of the deck.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the React frontend sends the buildings and connection costs to the Python backend. The backend runs Kruskal's algorithm with Union-Find and returns the MST edges and total cost. React then highlights the MST in green.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sort edges, take the cheapest, ask Union-Find whether its two ends are already connected. If not, add it; if yes, skip it. Stop after V-1 edges. On the example, edges D-E, A-C, B-D, A-B are chosen for a total cost of 10.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 of the dashboard: the sidebar adds buildings and connections, the canvas draws the network, and 'Find Minimum Network' sends it to the backend. The MST comes back highlighted in green with the minimum total cost (10 for this example). Swap in a real screenshot of your app if you have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project meets its goal of finding a minimum-cost network and shows Kruskal's with Union-Find in action. Future work: load real campus maps, scale to larger networks, use live data, and add deeper cost analysis.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400" b="1" dirty="0">
                <a:solidFill>
                  <a:srgbClr val="0B1F4B"/>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BA8"/>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4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400" b="1" dirty="0">
                <a:solidFill>
                  <a:srgbClr val="FFFFFF"/>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BA8"/>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B1F4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BA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212080" y="777240"/>
            <a:ext cx="3566160" cy="3566160"/>
          </a:xfrm>
          <a:prstGeom prst="ellipse">
            <a:avLst/>
          </a:prstGeom>
          <a:solidFill>
            <a:srgbClr val="14306E"/>
          </a:solidFill>
          <a:ln w="12700">
            <a:solidFill>
              <a:srgbClr val="14306E"/>
            </a:solidFill>
            <a:prstDash val="solid"/>
          </a:ln>
        </p:spPr>
      </p:sp>
      <p:sp>
        <p:nvSpPr>
          <p:cNvPr id="3" name="Shape 1"/>
          <p:cNvSpPr/>
          <p:nvPr/>
        </p:nvSpPr>
        <p:spPr>
          <a:xfrm>
            <a:off x="5669280" y="1371600"/>
            <a:ext cx="1280160" cy="0"/>
          </a:xfrm>
          <a:prstGeom prst="line">
            <a:avLst/>
          </a:prstGeom>
          <a:noFill/>
          <a:ln w="50800">
            <a:solidFill>
              <a:srgbClr val="4DA3FF"/>
            </a:solidFill>
            <a:prstDash val="solid"/>
          </a:ln>
        </p:spPr>
      </p:sp>
      <p:sp>
        <p:nvSpPr>
          <p:cNvPr id="4" name="Shape 2"/>
          <p:cNvSpPr/>
          <p:nvPr/>
        </p:nvSpPr>
        <p:spPr>
          <a:xfrm>
            <a:off x="5669280" y="1371600"/>
            <a:ext cx="0" cy="2258568"/>
          </a:xfrm>
          <a:prstGeom prst="line">
            <a:avLst/>
          </a:prstGeom>
          <a:noFill/>
          <a:ln w="50800">
            <a:solidFill>
              <a:srgbClr val="4DA3FF"/>
            </a:solidFill>
            <a:prstDash val="solid"/>
          </a:ln>
        </p:spPr>
      </p:sp>
      <p:sp>
        <p:nvSpPr>
          <p:cNvPr id="5" name="Shape 3"/>
          <p:cNvSpPr/>
          <p:nvPr/>
        </p:nvSpPr>
        <p:spPr>
          <a:xfrm flipV="1">
            <a:off x="5669280" y="1371600"/>
            <a:ext cx="1280160" cy="2258568"/>
          </a:xfrm>
          <a:prstGeom prst="line">
            <a:avLst/>
          </a:prstGeom>
          <a:noFill/>
          <a:ln w="19050">
            <a:solidFill>
              <a:srgbClr val="4B6AAE"/>
            </a:solidFill>
            <a:prstDash val="dash"/>
          </a:ln>
        </p:spPr>
      </p:sp>
      <p:sp>
        <p:nvSpPr>
          <p:cNvPr id="6" name="Shape 4"/>
          <p:cNvSpPr/>
          <p:nvPr/>
        </p:nvSpPr>
        <p:spPr>
          <a:xfrm>
            <a:off x="6949440" y="1371600"/>
            <a:ext cx="1280160" cy="784555"/>
          </a:xfrm>
          <a:prstGeom prst="line">
            <a:avLst/>
          </a:prstGeom>
          <a:noFill/>
          <a:ln w="50800">
            <a:solidFill>
              <a:srgbClr val="4DA3FF"/>
            </a:solidFill>
            <a:prstDash val="solid"/>
          </a:ln>
        </p:spPr>
      </p:sp>
      <p:sp>
        <p:nvSpPr>
          <p:cNvPr id="7" name="Shape 5"/>
          <p:cNvSpPr/>
          <p:nvPr/>
        </p:nvSpPr>
        <p:spPr>
          <a:xfrm flipV="1">
            <a:off x="5669280" y="2156155"/>
            <a:ext cx="2560320" cy="1474013"/>
          </a:xfrm>
          <a:prstGeom prst="line">
            <a:avLst/>
          </a:prstGeom>
          <a:noFill/>
          <a:ln w="19050">
            <a:solidFill>
              <a:srgbClr val="4B6AAE"/>
            </a:solidFill>
            <a:prstDash val="dash"/>
          </a:ln>
        </p:spPr>
      </p:sp>
      <p:sp>
        <p:nvSpPr>
          <p:cNvPr id="8" name="Shape 6"/>
          <p:cNvSpPr/>
          <p:nvPr/>
        </p:nvSpPr>
        <p:spPr>
          <a:xfrm>
            <a:off x="5669280" y="3630168"/>
            <a:ext cx="1920240" cy="118872"/>
          </a:xfrm>
          <a:prstGeom prst="line">
            <a:avLst/>
          </a:prstGeom>
          <a:noFill/>
          <a:ln w="19050">
            <a:solidFill>
              <a:srgbClr val="4B6AAE"/>
            </a:solidFill>
            <a:prstDash val="dash"/>
          </a:ln>
        </p:spPr>
      </p:sp>
      <p:sp>
        <p:nvSpPr>
          <p:cNvPr id="9" name="Shape 7"/>
          <p:cNvSpPr/>
          <p:nvPr/>
        </p:nvSpPr>
        <p:spPr>
          <a:xfrm flipV="1">
            <a:off x="7589520" y="2156155"/>
            <a:ext cx="640080" cy="1592885"/>
          </a:xfrm>
          <a:prstGeom prst="line">
            <a:avLst/>
          </a:prstGeom>
          <a:noFill/>
          <a:ln w="50800">
            <a:solidFill>
              <a:srgbClr val="4DA3FF"/>
            </a:solidFill>
            <a:prstDash val="solid"/>
          </a:ln>
        </p:spPr>
      </p:sp>
      <p:sp>
        <p:nvSpPr>
          <p:cNvPr id="10" name="Text 8"/>
          <p:cNvSpPr/>
          <p:nvPr/>
        </p:nvSpPr>
        <p:spPr>
          <a:xfrm>
            <a:off x="5486400" y="1188720"/>
            <a:ext cx="365760" cy="365760"/>
          </a:xfrm>
          <a:prstGeom prst="ellipse">
            <a:avLst/>
          </a:prstGeom>
          <a:solidFill>
            <a:srgbClr val="FFFFFF"/>
          </a:solidFill>
          <a:ln w="25400">
            <a:solidFill>
              <a:srgbClr val="4DA3FF"/>
            </a:solidFill>
          </a:ln>
        </p:spPr>
        <p:txBody>
          <a:bodyPr wrap="square" lIns="0" tIns="0" rIns="0" bIns="0" rtlCol="0" anchor="ctr"/>
          <a:lstStyle/>
          <a:p>
            <a:pPr marL="0" indent="0" algn="ctr">
              <a:buNone/>
            </a:pPr>
            <a:r>
              <a:rPr lang="en-US" sz="1200" b="1" dirty="0">
                <a:solidFill>
                  <a:srgbClr val="0B1F4B"/>
                </a:solidFill>
              </a:rPr>
              <a:t>A</a:t>
            </a:r>
            <a:endParaRPr lang="en-US" sz="1200" dirty="0"/>
          </a:p>
        </p:txBody>
      </p:sp>
      <p:sp>
        <p:nvSpPr>
          <p:cNvPr id="11" name="Text 9"/>
          <p:cNvSpPr/>
          <p:nvPr/>
        </p:nvSpPr>
        <p:spPr>
          <a:xfrm>
            <a:off x="6766560" y="1188720"/>
            <a:ext cx="365760" cy="365760"/>
          </a:xfrm>
          <a:prstGeom prst="ellipse">
            <a:avLst/>
          </a:prstGeom>
          <a:solidFill>
            <a:srgbClr val="FFFFFF"/>
          </a:solidFill>
          <a:ln w="25400">
            <a:solidFill>
              <a:srgbClr val="4DA3FF"/>
            </a:solidFill>
          </a:ln>
        </p:spPr>
        <p:txBody>
          <a:bodyPr wrap="square" lIns="0" tIns="0" rIns="0" bIns="0" rtlCol="0" anchor="ctr"/>
          <a:lstStyle/>
          <a:p>
            <a:pPr marL="0" indent="0" algn="ctr">
              <a:buNone/>
            </a:pPr>
            <a:r>
              <a:rPr lang="en-US" sz="1200" b="1" dirty="0">
                <a:solidFill>
                  <a:srgbClr val="0B1F4B"/>
                </a:solidFill>
              </a:rPr>
              <a:t>B</a:t>
            </a:r>
            <a:endParaRPr lang="en-US" sz="1200" dirty="0"/>
          </a:p>
        </p:txBody>
      </p:sp>
      <p:sp>
        <p:nvSpPr>
          <p:cNvPr id="12" name="Text 10"/>
          <p:cNvSpPr/>
          <p:nvPr/>
        </p:nvSpPr>
        <p:spPr>
          <a:xfrm>
            <a:off x="8046720" y="1973275"/>
            <a:ext cx="365760" cy="365760"/>
          </a:xfrm>
          <a:prstGeom prst="ellipse">
            <a:avLst/>
          </a:prstGeom>
          <a:solidFill>
            <a:srgbClr val="FFFFFF"/>
          </a:solidFill>
          <a:ln w="25400">
            <a:solidFill>
              <a:srgbClr val="4DA3FF"/>
            </a:solidFill>
          </a:ln>
        </p:spPr>
        <p:txBody>
          <a:bodyPr wrap="square" lIns="0" tIns="0" rIns="0" bIns="0" rtlCol="0" anchor="ctr"/>
          <a:lstStyle/>
          <a:p>
            <a:pPr marL="0" indent="0" algn="ctr">
              <a:buNone/>
            </a:pPr>
            <a:r>
              <a:rPr lang="en-US" sz="1200" b="1" dirty="0">
                <a:solidFill>
                  <a:srgbClr val="0B1F4B"/>
                </a:solidFill>
              </a:rPr>
              <a:t>D</a:t>
            </a:r>
            <a:endParaRPr lang="en-US" sz="1200" dirty="0"/>
          </a:p>
        </p:txBody>
      </p:sp>
      <p:sp>
        <p:nvSpPr>
          <p:cNvPr id="13" name="Text 11"/>
          <p:cNvSpPr/>
          <p:nvPr/>
        </p:nvSpPr>
        <p:spPr>
          <a:xfrm>
            <a:off x="5486400" y="3447288"/>
            <a:ext cx="365760" cy="365760"/>
          </a:xfrm>
          <a:prstGeom prst="ellipse">
            <a:avLst/>
          </a:prstGeom>
          <a:solidFill>
            <a:srgbClr val="FFFFFF"/>
          </a:solidFill>
          <a:ln w="25400">
            <a:solidFill>
              <a:srgbClr val="4DA3FF"/>
            </a:solidFill>
          </a:ln>
        </p:spPr>
        <p:txBody>
          <a:bodyPr wrap="square" lIns="0" tIns="0" rIns="0" bIns="0" rtlCol="0" anchor="ctr"/>
          <a:lstStyle/>
          <a:p>
            <a:pPr marL="0" indent="0" algn="ctr">
              <a:buNone/>
            </a:pPr>
            <a:r>
              <a:rPr lang="en-US" sz="1200" b="1" dirty="0">
                <a:solidFill>
                  <a:srgbClr val="0B1F4B"/>
                </a:solidFill>
              </a:rPr>
              <a:t>C</a:t>
            </a:r>
            <a:endParaRPr lang="en-US" sz="1200" dirty="0"/>
          </a:p>
        </p:txBody>
      </p:sp>
      <p:sp>
        <p:nvSpPr>
          <p:cNvPr id="14" name="Text 12"/>
          <p:cNvSpPr/>
          <p:nvPr/>
        </p:nvSpPr>
        <p:spPr>
          <a:xfrm>
            <a:off x="7406640" y="3566160"/>
            <a:ext cx="365760" cy="365760"/>
          </a:xfrm>
          <a:prstGeom prst="ellipse">
            <a:avLst/>
          </a:prstGeom>
          <a:solidFill>
            <a:srgbClr val="FFFFFF"/>
          </a:solidFill>
          <a:ln w="25400">
            <a:solidFill>
              <a:srgbClr val="4DA3FF"/>
            </a:solidFill>
          </a:ln>
        </p:spPr>
        <p:txBody>
          <a:bodyPr wrap="square" lIns="0" tIns="0" rIns="0" bIns="0" rtlCol="0" anchor="ctr"/>
          <a:lstStyle/>
          <a:p>
            <a:pPr marL="0" indent="0" algn="ctr">
              <a:buNone/>
            </a:pPr>
            <a:r>
              <a:rPr lang="en-US" sz="1200" b="1" dirty="0">
                <a:solidFill>
                  <a:srgbClr val="0B1F4B"/>
                </a:solidFill>
              </a:rPr>
              <a:t>E</a:t>
            </a:r>
            <a:endParaRPr lang="en-US" sz="1200" dirty="0"/>
          </a:p>
        </p:txBody>
      </p:sp>
      <p:sp>
        <p:nvSpPr>
          <p:cNvPr id="15" name="Text 13"/>
          <p:cNvSpPr txBox="1"/>
          <p:nvPr/>
        </p:nvSpPr>
        <p:spPr>
          <a:xfrm>
            <a:off x="548640" y="640080"/>
            <a:ext cx="4114800" cy="274320"/>
          </a:xfrm>
          <a:prstGeom prst="rect">
            <a:avLst/>
          </a:prstGeom>
          <a:noFill/>
          <a:ln/>
        </p:spPr>
        <p:txBody>
          <a:bodyPr wrap="square" lIns="0" tIns="0" rIns="0" bIns="0" rtlCol="0" anchor="ctr"/>
          <a:lstStyle/>
          <a:p>
            <a:pPr marL="0" indent="0">
              <a:buNone/>
            </a:pPr>
            <a:r>
              <a:rPr lang="en-US" sz="1200" b="1" kern="0" spc="300" dirty="0">
                <a:solidFill>
                  <a:srgbClr val="4DA3FF"/>
                </a:solidFill>
              </a:rPr>
              <a:t>COLLEGE PROJECT</a:t>
            </a:r>
            <a:endParaRPr lang="en-US" sz="1200" dirty="0"/>
          </a:p>
        </p:txBody>
      </p:sp>
      <p:sp>
        <p:nvSpPr>
          <p:cNvPr id="16" name="Text 14"/>
          <p:cNvSpPr txBox="1"/>
          <p:nvPr/>
        </p:nvSpPr>
        <p:spPr>
          <a:xfrm>
            <a:off x="548640" y="1005840"/>
            <a:ext cx="4754880" cy="1920240"/>
          </a:xfrm>
          <a:prstGeom prst="rect">
            <a:avLst/>
          </a:prstGeom>
          <a:noFill/>
          <a:ln/>
        </p:spPr>
        <p:txBody>
          <a:bodyPr wrap="square" lIns="0" tIns="0" rIns="0" bIns="0" rtlCol="0" anchor="t"/>
          <a:lstStyle/>
          <a:p>
            <a:pPr marL="0" indent="0">
              <a:buNone/>
            </a:pPr>
            <a:r>
              <a:rPr lang="en-US" sz="3800" b="1" dirty="0">
                <a:solidFill>
                  <a:srgbClr val="FFFFFF"/>
                </a:solidFill>
              </a:rPr>
              <a:t>Campus Minimum Network Designer</a:t>
            </a:r>
            <a:endParaRPr lang="en-US" sz="3800" dirty="0"/>
          </a:p>
          <a:p>
            <a:pPr marL="0" indent="0">
              <a:buNone/>
            </a:pPr>
            <a:r>
              <a:rPr lang="en-US" sz="2800" b="1" dirty="0">
                <a:solidFill>
                  <a:srgbClr val="4DA3FF"/>
                </a:solidFill>
              </a:rPr>
              <a:t>using Kruskal’s Algorithm</a:t>
            </a:r>
            <a:endParaRPr lang="en-US" sz="3800" dirty="0"/>
          </a:p>
        </p:txBody>
      </p:sp>
      <p:sp>
        <p:nvSpPr>
          <p:cNvPr id="17" name="Text 15"/>
          <p:cNvSpPr txBox="1"/>
          <p:nvPr/>
        </p:nvSpPr>
        <p:spPr>
          <a:xfrm>
            <a:off x="548640" y="3063240"/>
            <a:ext cx="4480560" cy="548640"/>
          </a:xfrm>
          <a:prstGeom prst="rect">
            <a:avLst/>
          </a:prstGeom>
          <a:noFill/>
          <a:ln/>
        </p:spPr>
        <p:txBody>
          <a:bodyPr wrap="square" lIns="0" tIns="0" rIns="0" bIns="0" rtlCol="0" anchor="t"/>
          <a:lstStyle/>
          <a:p>
            <a:pPr marL="0" indent="0">
              <a:buNone/>
            </a:pPr>
            <a:r>
              <a:rPr lang="en-US" sz="1500" dirty="0">
                <a:solidFill>
                  <a:srgbClr val="CADCFC"/>
                </a:solidFill>
              </a:rPr>
              <a:t>Connecting every campus building at the lowest possible cable cost</a:t>
            </a:r>
            <a:endParaRPr lang="en-US" sz="1500" dirty="0"/>
          </a:p>
        </p:txBody>
      </p:sp>
      <p:sp>
        <p:nvSpPr>
          <p:cNvPr id="18" name="Text 16"/>
          <p:cNvSpPr txBox="1"/>
          <p:nvPr/>
        </p:nvSpPr>
        <p:spPr>
          <a:xfrm>
            <a:off x="502920" y="3362530"/>
            <a:ext cx="4572000" cy="1118382"/>
          </a:xfrm>
          <a:prstGeom prst="rect">
            <a:avLst/>
          </a:prstGeom>
          <a:noFill/>
          <a:ln/>
        </p:spPr>
        <p:txBody>
          <a:bodyPr wrap="square" lIns="0" tIns="0" rIns="0" bIns="0" rtlCol="0" anchor="t"/>
          <a:lstStyle/>
          <a:p>
            <a:pPr marL="0" indent="0">
              <a:buNone/>
            </a:pPr>
            <a:endParaRPr lang="en-US" sz="1600" dirty="0">
              <a:solidFill>
                <a:schemeClr val="bg1"/>
              </a:solidFill>
            </a:endParaRPr>
          </a:p>
          <a:p>
            <a:pPr marL="0" indent="0">
              <a:buNone/>
            </a:pPr>
            <a:r>
              <a:rPr lang="en-US" sz="2000" dirty="0">
                <a:solidFill>
                  <a:schemeClr val="accent6">
                    <a:lumMod val="90000"/>
                  </a:schemeClr>
                </a:solidFill>
              </a:rPr>
              <a:t>TEAM:</a:t>
            </a:r>
          </a:p>
          <a:p>
            <a:pPr marL="0" indent="0">
              <a:buNone/>
            </a:pPr>
            <a:r>
              <a:rPr lang="en-US" sz="1600" dirty="0">
                <a:solidFill>
                  <a:schemeClr val="bg1"/>
                </a:solidFill>
              </a:rPr>
              <a:t>G Manikanta(25MVCSDR0019)</a:t>
            </a:r>
          </a:p>
          <a:p>
            <a:r>
              <a:rPr lang="en-US" sz="1600" dirty="0">
                <a:solidFill>
                  <a:schemeClr val="bg1"/>
                </a:solidFill>
              </a:rPr>
              <a:t>Nagi Reddy(25MVCSDR0012)</a:t>
            </a:r>
          </a:p>
          <a:p>
            <a:r>
              <a:rPr lang="en-US" sz="1600" dirty="0">
                <a:solidFill>
                  <a:schemeClr val="bg1"/>
                </a:solidFill>
              </a:rPr>
              <a:t>Upendar(25MVCSDR0024)</a:t>
            </a:r>
          </a:p>
          <a:p>
            <a:r>
              <a:rPr lang="en-US" sz="1600" dirty="0">
                <a:solidFill>
                  <a:schemeClr val="bg1"/>
                </a:solidFill>
              </a:rPr>
              <a:t>Manasa(25MVCSDR0060)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rgbClr val="0B1F4B"/>
                </a:solidFill>
              </a:rPr>
              <a:t>Problem Statement &amp; Objective</a:t>
            </a:r>
            <a:endParaRPr lang="en-US" sz="3400" dirty="0"/>
          </a:p>
        </p:txBody>
      </p:sp>
      <p:sp>
        <p:nvSpPr>
          <p:cNvPr id="3" name="Shape 1"/>
          <p:cNvSpPr/>
          <p:nvPr/>
        </p:nvSpPr>
        <p:spPr>
          <a:xfrm>
            <a:off x="457200" y="1188720"/>
            <a:ext cx="4023360" cy="1783080"/>
          </a:xfrm>
          <a:prstGeom prst="roundRect">
            <a:avLst>
              <a:gd name="adj" fmla="val 6154"/>
            </a:avLst>
          </a:prstGeom>
          <a:solidFill>
            <a:srgbClr val="F1F6FE"/>
          </a:solidFill>
          <a:ln w="12700">
            <a:solidFill>
              <a:srgbClr val="F1F6FE"/>
            </a:solidFill>
            <a:prstDash val="solid"/>
          </a:ln>
        </p:spPr>
      </p:sp>
      <p:sp>
        <p:nvSpPr>
          <p:cNvPr id="4" name="Shape 2"/>
          <p:cNvSpPr/>
          <p:nvPr/>
        </p:nvSpPr>
        <p:spPr>
          <a:xfrm>
            <a:off x="685800" y="1417320"/>
            <a:ext cx="548640" cy="548640"/>
          </a:xfrm>
          <a:prstGeom prst="ellipse">
            <a:avLst/>
          </a:prstGeom>
          <a:solidFill>
            <a:srgbClr val="1E6FE0"/>
          </a:solidFill>
          <a:ln w="12700">
            <a:solidFill>
              <a:srgbClr val="1E6FE0"/>
            </a:solidFill>
            <a:prstDash val="solid"/>
          </a:ln>
        </p:spPr>
      </p:sp>
      <p:pic>
        <p:nvPicPr>
          <p:cNvPr id="5" name="Image 0" descr="preencoded.png"/>
          <p:cNvPicPr>
            <a:picLocks noChangeAspect="1"/>
          </p:cNvPicPr>
          <p:nvPr/>
        </p:nvPicPr>
        <p:blipFill>
          <a:blip r:embed="rId3"/>
          <a:stretch>
            <a:fillRect/>
          </a:stretch>
        </p:blipFill>
        <p:spPr>
          <a:xfrm>
            <a:off x="822960" y="1554480"/>
            <a:ext cx="274320" cy="274320"/>
          </a:xfrm>
          <a:prstGeom prst="rect">
            <a:avLst/>
          </a:prstGeom>
        </p:spPr>
      </p:pic>
      <p:sp>
        <p:nvSpPr>
          <p:cNvPr id="6" name="Text 3"/>
          <p:cNvSpPr txBox="1"/>
          <p:nvPr/>
        </p:nvSpPr>
        <p:spPr>
          <a:xfrm>
            <a:off x="1371600" y="1417320"/>
            <a:ext cx="2926080" cy="548640"/>
          </a:xfrm>
          <a:prstGeom prst="rect">
            <a:avLst/>
          </a:prstGeom>
          <a:noFill/>
          <a:ln/>
        </p:spPr>
        <p:txBody>
          <a:bodyPr wrap="square" lIns="0" tIns="0" rIns="0" bIns="0" rtlCol="0" anchor="ctr"/>
          <a:lstStyle/>
          <a:p>
            <a:pPr marL="0" indent="0">
              <a:buNone/>
            </a:pPr>
            <a:r>
              <a:rPr lang="en-US" sz="2200" b="1" dirty="0">
                <a:solidFill>
                  <a:srgbClr val="0B1F4B"/>
                </a:solidFill>
              </a:rPr>
              <a:t>Problem</a:t>
            </a:r>
            <a:endParaRPr lang="en-US" sz="2200" dirty="0"/>
          </a:p>
        </p:txBody>
      </p:sp>
      <p:sp>
        <p:nvSpPr>
          <p:cNvPr id="7" name="Text 4"/>
          <p:cNvSpPr txBox="1"/>
          <p:nvPr/>
        </p:nvSpPr>
        <p:spPr>
          <a:xfrm>
            <a:off x="731520" y="2103120"/>
            <a:ext cx="3520440" cy="685800"/>
          </a:xfrm>
          <a:prstGeom prst="rect">
            <a:avLst/>
          </a:prstGeom>
          <a:noFill/>
          <a:ln/>
        </p:spPr>
        <p:txBody>
          <a:bodyPr wrap="square" lIns="0" tIns="0" rIns="0" bIns="0" rtlCol="0" anchor="t"/>
          <a:lstStyle/>
          <a:p>
            <a:pPr marL="0" indent="0">
              <a:buNone/>
            </a:pPr>
            <a:r>
              <a:rPr lang="en-US" sz="1400" dirty="0">
                <a:solidFill>
                  <a:srgbClr val="0B1F4B"/>
                </a:solidFill>
              </a:rPr>
              <a:t>Connect all campus buildings with the minimum total cable / network cost.</a:t>
            </a:r>
            <a:endParaRPr lang="en-US" sz="1400" dirty="0"/>
          </a:p>
        </p:txBody>
      </p:sp>
      <p:sp>
        <p:nvSpPr>
          <p:cNvPr id="8" name="Shape 5"/>
          <p:cNvSpPr/>
          <p:nvPr/>
        </p:nvSpPr>
        <p:spPr>
          <a:xfrm>
            <a:off x="4663440" y="1188720"/>
            <a:ext cx="4023360" cy="1783080"/>
          </a:xfrm>
          <a:prstGeom prst="roundRect">
            <a:avLst>
              <a:gd name="adj" fmla="val 6154"/>
            </a:avLst>
          </a:prstGeom>
          <a:solidFill>
            <a:srgbClr val="F1F6FE"/>
          </a:solidFill>
          <a:ln w="12700">
            <a:solidFill>
              <a:srgbClr val="F1F6FE"/>
            </a:solidFill>
            <a:prstDash val="solid"/>
          </a:ln>
        </p:spPr>
      </p:sp>
      <p:sp>
        <p:nvSpPr>
          <p:cNvPr id="9" name="Shape 6"/>
          <p:cNvSpPr/>
          <p:nvPr/>
        </p:nvSpPr>
        <p:spPr>
          <a:xfrm>
            <a:off x="4892040" y="1417320"/>
            <a:ext cx="548640" cy="548640"/>
          </a:xfrm>
          <a:prstGeom prst="ellipse">
            <a:avLst/>
          </a:prstGeom>
          <a:solidFill>
            <a:srgbClr val="1E6FE0"/>
          </a:solidFill>
          <a:ln w="12700">
            <a:solidFill>
              <a:srgbClr val="1E6FE0"/>
            </a:solidFill>
            <a:prstDash val="solid"/>
          </a:ln>
        </p:spPr>
      </p:sp>
      <p:pic>
        <p:nvPicPr>
          <p:cNvPr id="10" name="Image 1" descr="preencoded.png"/>
          <p:cNvPicPr>
            <a:picLocks noChangeAspect="1"/>
          </p:cNvPicPr>
          <p:nvPr/>
        </p:nvPicPr>
        <p:blipFill>
          <a:blip r:embed="rId4"/>
          <a:stretch>
            <a:fillRect/>
          </a:stretch>
        </p:blipFill>
        <p:spPr>
          <a:xfrm>
            <a:off x="5029200" y="1554480"/>
            <a:ext cx="274320" cy="274320"/>
          </a:xfrm>
          <a:prstGeom prst="rect">
            <a:avLst/>
          </a:prstGeom>
        </p:spPr>
      </p:pic>
      <p:sp>
        <p:nvSpPr>
          <p:cNvPr id="11" name="Text 7"/>
          <p:cNvSpPr txBox="1"/>
          <p:nvPr/>
        </p:nvSpPr>
        <p:spPr>
          <a:xfrm>
            <a:off x="5577840" y="1417320"/>
            <a:ext cx="2926080" cy="548640"/>
          </a:xfrm>
          <a:prstGeom prst="rect">
            <a:avLst/>
          </a:prstGeom>
          <a:noFill/>
          <a:ln/>
        </p:spPr>
        <p:txBody>
          <a:bodyPr wrap="square" lIns="0" tIns="0" rIns="0" bIns="0" rtlCol="0" anchor="ctr"/>
          <a:lstStyle/>
          <a:p>
            <a:pPr marL="0" indent="0">
              <a:buNone/>
            </a:pPr>
            <a:r>
              <a:rPr lang="en-US" sz="2200" b="1" dirty="0">
                <a:solidFill>
                  <a:srgbClr val="0B1F4B"/>
                </a:solidFill>
              </a:rPr>
              <a:t>Objective</a:t>
            </a:r>
            <a:endParaRPr lang="en-US" sz="2200" dirty="0"/>
          </a:p>
        </p:txBody>
      </p:sp>
      <p:sp>
        <p:nvSpPr>
          <p:cNvPr id="12" name="Text 8"/>
          <p:cNvSpPr txBox="1"/>
          <p:nvPr/>
        </p:nvSpPr>
        <p:spPr>
          <a:xfrm>
            <a:off x="4937760" y="2103120"/>
            <a:ext cx="3520440" cy="685800"/>
          </a:xfrm>
          <a:prstGeom prst="rect">
            <a:avLst/>
          </a:prstGeom>
          <a:noFill/>
          <a:ln/>
        </p:spPr>
        <p:txBody>
          <a:bodyPr wrap="square" lIns="0" tIns="0" rIns="0" bIns="0" rtlCol="0" anchor="t"/>
          <a:lstStyle/>
          <a:p>
            <a:pPr marL="0" indent="0">
              <a:buNone/>
            </a:pPr>
            <a:r>
              <a:rPr lang="en-US" sz="1400" dirty="0">
                <a:solidFill>
                  <a:srgbClr val="0B1F4B"/>
                </a:solidFill>
              </a:rPr>
              <a:t>Find the Minimum Spanning Tree (MST): every building connected, no extra cable.</a:t>
            </a:r>
            <a:endParaRPr lang="en-US" sz="1400" dirty="0"/>
          </a:p>
        </p:txBody>
      </p:sp>
      <p:sp>
        <p:nvSpPr>
          <p:cNvPr id="13" name="Text 9"/>
          <p:cNvSpPr txBox="1"/>
          <p:nvPr/>
        </p:nvSpPr>
        <p:spPr>
          <a:xfrm>
            <a:off x="457200" y="3200400"/>
            <a:ext cx="5486400" cy="365760"/>
          </a:xfrm>
          <a:prstGeom prst="rect">
            <a:avLst/>
          </a:prstGeom>
          <a:noFill/>
          <a:ln/>
        </p:spPr>
        <p:txBody>
          <a:bodyPr wrap="square" lIns="0" tIns="0" rIns="0" bIns="0" rtlCol="0" anchor="ctr"/>
          <a:lstStyle/>
          <a:p>
            <a:pPr marL="0" indent="0">
              <a:buNone/>
            </a:pPr>
            <a:r>
              <a:rPr lang="en-US" sz="2000" b="1" dirty="0">
                <a:solidFill>
                  <a:srgbClr val="0B1F4B"/>
                </a:solidFill>
              </a:rPr>
              <a:t>Why minimize cost?</a:t>
            </a:r>
            <a:endParaRPr lang="en-US" sz="2000" dirty="0"/>
          </a:p>
        </p:txBody>
      </p:sp>
      <p:sp>
        <p:nvSpPr>
          <p:cNvPr id="14" name="Shape 10"/>
          <p:cNvSpPr/>
          <p:nvPr/>
        </p:nvSpPr>
        <p:spPr>
          <a:xfrm>
            <a:off x="457200" y="3703320"/>
            <a:ext cx="2560320" cy="868680"/>
          </a:xfrm>
          <a:prstGeom prst="roundRect">
            <a:avLst>
              <a:gd name="adj" fmla="val 12632"/>
            </a:avLst>
          </a:prstGeom>
          <a:solidFill>
            <a:srgbClr val="0B1F4B"/>
          </a:solidFill>
          <a:ln w="12700">
            <a:solidFill>
              <a:srgbClr val="0B1F4B"/>
            </a:solidFill>
            <a:prstDash val="solid"/>
          </a:ln>
        </p:spPr>
      </p:sp>
      <p:sp>
        <p:nvSpPr>
          <p:cNvPr id="15" name="Shape 11"/>
          <p:cNvSpPr/>
          <p:nvPr/>
        </p:nvSpPr>
        <p:spPr>
          <a:xfrm>
            <a:off x="685800" y="3909060"/>
            <a:ext cx="457200" cy="457200"/>
          </a:xfrm>
          <a:prstGeom prst="ellipse">
            <a:avLst/>
          </a:prstGeom>
          <a:solidFill>
            <a:srgbClr val="1E6FE0"/>
          </a:solidFill>
          <a:ln w="12700">
            <a:solidFill>
              <a:srgbClr val="1E6FE0"/>
            </a:solidFill>
            <a:prstDash val="solid"/>
          </a:ln>
        </p:spPr>
      </p:sp>
      <p:pic>
        <p:nvPicPr>
          <p:cNvPr id="16" name="Image 2" descr="preencoded.png"/>
          <p:cNvPicPr>
            <a:picLocks noChangeAspect="1"/>
          </p:cNvPicPr>
          <p:nvPr/>
        </p:nvPicPr>
        <p:blipFill>
          <a:blip r:embed="rId5"/>
          <a:stretch>
            <a:fillRect/>
          </a:stretch>
        </p:blipFill>
        <p:spPr>
          <a:xfrm>
            <a:off x="800100" y="4023360"/>
            <a:ext cx="228600" cy="228600"/>
          </a:xfrm>
          <a:prstGeom prst="rect">
            <a:avLst/>
          </a:prstGeom>
        </p:spPr>
      </p:pic>
      <p:sp>
        <p:nvSpPr>
          <p:cNvPr id="17" name="Text 12"/>
          <p:cNvSpPr txBox="1"/>
          <p:nvPr/>
        </p:nvSpPr>
        <p:spPr>
          <a:xfrm>
            <a:off x="1325880" y="3749040"/>
            <a:ext cx="1554480" cy="777240"/>
          </a:xfrm>
          <a:prstGeom prst="rect">
            <a:avLst/>
          </a:prstGeom>
          <a:noFill/>
          <a:ln/>
        </p:spPr>
        <p:txBody>
          <a:bodyPr wrap="square" lIns="0" tIns="0" rIns="0" bIns="0" rtlCol="0" anchor="ctr"/>
          <a:lstStyle/>
          <a:p>
            <a:pPr marL="0" indent="0">
              <a:buNone/>
            </a:pPr>
            <a:r>
              <a:rPr lang="en-US" sz="1400" b="1" dirty="0">
                <a:solidFill>
                  <a:srgbClr val="FFFFFF"/>
                </a:solidFill>
              </a:rPr>
              <a:t>Saves cable &amp; setup cost</a:t>
            </a:r>
            <a:endParaRPr lang="en-US" sz="1400" dirty="0"/>
          </a:p>
        </p:txBody>
      </p:sp>
      <p:sp>
        <p:nvSpPr>
          <p:cNvPr id="18" name="Shape 13"/>
          <p:cNvSpPr/>
          <p:nvPr/>
        </p:nvSpPr>
        <p:spPr>
          <a:xfrm>
            <a:off x="3291840" y="3703320"/>
            <a:ext cx="2560320" cy="868680"/>
          </a:xfrm>
          <a:prstGeom prst="roundRect">
            <a:avLst>
              <a:gd name="adj" fmla="val 12632"/>
            </a:avLst>
          </a:prstGeom>
          <a:solidFill>
            <a:srgbClr val="0B1F4B"/>
          </a:solidFill>
          <a:ln w="12700">
            <a:solidFill>
              <a:srgbClr val="0B1F4B"/>
            </a:solidFill>
            <a:prstDash val="solid"/>
          </a:ln>
        </p:spPr>
      </p:sp>
      <p:sp>
        <p:nvSpPr>
          <p:cNvPr id="19" name="Shape 14"/>
          <p:cNvSpPr/>
          <p:nvPr/>
        </p:nvSpPr>
        <p:spPr>
          <a:xfrm>
            <a:off x="3520440" y="3909060"/>
            <a:ext cx="457200" cy="457200"/>
          </a:xfrm>
          <a:prstGeom prst="ellipse">
            <a:avLst/>
          </a:prstGeom>
          <a:solidFill>
            <a:srgbClr val="1E6FE0"/>
          </a:solidFill>
          <a:ln w="12700">
            <a:solidFill>
              <a:srgbClr val="1E6FE0"/>
            </a:solidFill>
            <a:prstDash val="solid"/>
          </a:ln>
        </p:spPr>
      </p:sp>
      <p:pic>
        <p:nvPicPr>
          <p:cNvPr id="20" name="Image 3" descr="preencoded.png"/>
          <p:cNvPicPr>
            <a:picLocks noChangeAspect="1"/>
          </p:cNvPicPr>
          <p:nvPr/>
        </p:nvPicPr>
        <p:blipFill>
          <a:blip r:embed="rId6"/>
          <a:stretch>
            <a:fillRect/>
          </a:stretch>
        </p:blipFill>
        <p:spPr>
          <a:xfrm>
            <a:off x="3634740" y="4023360"/>
            <a:ext cx="228600" cy="228600"/>
          </a:xfrm>
          <a:prstGeom prst="rect">
            <a:avLst/>
          </a:prstGeom>
        </p:spPr>
      </p:pic>
      <p:sp>
        <p:nvSpPr>
          <p:cNvPr id="21" name="Text 15"/>
          <p:cNvSpPr txBox="1"/>
          <p:nvPr/>
        </p:nvSpPr>
        <p:spPr>
          <a:xfrm>
            <a:off x="4160520" y="3749040"/>
            <a:ext cx="1554480" cy="777240"/>
          </a:xfrm>
          <a:prstGeom prst="rect">
            <a:avLst/>
          </a:prstGeom>
          <a:noFill/>
          <a:ln/>
        </p:spPr>
        <p:txBody>
          <a:bodyPr wrap="square" lIns="0" tIns="0" rIns="0" bIns="0" rtlCol="0" anchor="ctr"/>
          <a:lstStyle/>
          <a:p>
            <a:pPr marL="0" indent="0">
              <a:buNone/>
            </a:pPr>
            <a:r>
              <a:rPr lang="en-US" sz="1400" b="1" dirty="0">
                <a:solidFill>
                  <a:srgbClr val="FFFFFF"/>
                </a:solidFill>
              </a:rPr>
              <a:t>Less maintenance</a:t>
            </a:r>
            <a:endParaRPr lang="en-US" sz="1400" dirty="0"/>
          </a:p>
        </p:txBody>
      </p:sp>
      <p:sp>
        <p:nvSpPr>
          <p:cNvPr id="22" name="Shape 16"/>
          <p:cNvSpPr/>
          <p:nvPr/>
        </p:nvSpPr>
        <p:spPr>
          <a:xfrm>
            <a:off x="6126480" y="3703320"/>
            <a:ext cx="2560320" cy="868680"/>
          </a:xfrm>
          <a:prstGeom prst="roundRect">
            <a:avLst>
              <a:gd name="adj" fmla="val 12632"/>
            </a:avLst>
          </a:prstGeom>
          <a:solidFill>
            <a:srgbClr val="0B1F4B"/>
          </a:solidFill>
          <a:ln w="12700">
            <a:solidFill>
              <a:srgbClr val="0B1F4B"/>
            </a:solidFill>
            <a:prstDash val="solid"/>
          </a:ln>
        </p:spPr>
      </p:sp>
      <p:sp>
        <p:nvSpPr>
          <p:cNvPr id="23" name="Shape 17"/>
          <p:cNvSpPr/>
          <p:nvPr/>
        </p:nvSpPr>
        <p:spPr>
          <a:xfrm>
            <a:off x="6355080" y="3909060"/>
            <a:ext cx="457200" cy="457200"/>
          </a:xfrm>
          <a:prstGeom prst="ellipse">
            <a:avLst/>
          </a:prstGeom>
          <a:solidFill>
            <a:srgbClr val="1E6FE0"/>
          </a:solidFill>
          <a:ln w="12700">
            <a:solidFill>
              <a:srgbClr val="1E6FE0"/>
            </a:solidFill>
            <a:prstDash val="solid"/>
          </a:ln>
        </p:spPr>
      </p:sp>
      <p:pic>
        <p:nvPicPr>
          <p:cNvPr id="24" name="Image 4" descr="preencoded.png"/>
          <p:cNvPicPr>
            <a:picLocks noChangeAspect="1"/>
          </p:cNvPicPr>
          <p:nvPr/>
        </p:nvPicPr>
        <p:blipFill>
          <a:blip r:embed="rId7"/>
          <a:stretch>
            <a:fillRect/>
          </a:stretch>
        </p:blipFill>
        <p:spPr>
          <a:xfrm>
            <a:off x="6469380" y="4023360"/>
            <a:ext cx="228600" cy="228600"/>
          </a:xfrm>
          <a:prstGeom prst="rect">
            <a:avLst/>
          </a:prstGeom>
        </p:spPr>
      </p:pic>
      <p:sp>
        <p:nvSpPr>
          <p:cNvPr id="25" name="Text 18"/>
          <p:cNvSpPr txBox="1"/>
          <p:nvPr/>
        </p:nvSpPr>
        <p:spPr>
          <a:xfrm>
            <a:off x="6995160" y="3749040"/>
            <a:ext cx="1554480" cy="777240"/>
          </a:xfrm>
          <a:prstGeom prst="rect">
            <a:avLst/>
          </a:prstGeom>
          <a:noFill/>
          <a:ln/>
        </p:spPr>
        <p:txBody>
          <a:bodyPr wrap="square" lIns="0" tIns="0" rIns="0" bIns="0" rtlCol="0" anchor="ctr"/>
          <a:lstStyle/>
          <a:p>
            <a:pPr marL="0" indent="0">
              <a:buNone/>
            </a:pPr>
            <a:r>
              <a:rPr lang="en-US" sz="1400" b="1" dirty="0">
                <a:solidFill>
                  <a:srgbClr val="FFFFFF"/>
                </a:solidFill>
              </a:rPr>
              <a:t>Efficient, loop-free design</a:t>
            </a:r>
            <a:endParaRPr lang="en-US" sz="1400" dirty="0"/>
          </a:p>
        </p:txBody>
      </p:sp>
      <p:sp>
        <p:nvSpPr>
          <p:cNvPr id="26"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BA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rgbClr val="0B1F4B"/>
                </a:solidFill>
              </a:rPr>
              <a:t>Proposed Solution</a:t>
            </a:r>
            <a:endParaRPr lang="en-US" sz="3400" dirty="0"/>
          </a:p>
        </p:txBody>
      </p:sp>
      <p:sp>
        <p:nvSpPr>
          <p:cNvPr id="3" name="Shape 1"/>
          <p:cNvSpPr/>
          <p:nvPr/>
        </p:nvSpPr>
        <p:spPr>
          <a:xfrm>
            <a:off x="457200" y="1188720"/>
            <a:ext cx="4114800" cy="1188720"/>
          </a:xfrm>
          <a:prstGeom prst="roundRect">
            <a:avLst>
              <a:gd name="adj" fmla="val 9231"/>
            </a:avLst>
          </a:prstGeom>
          <a:solidFill>
            <a:srgbClr val="F1F6FE"/>
          </a:solidFill>
          <a:ln w="12700">
            <a:solidFill>
              <a:srgbClr val="F1F6FE"/>
            </a:solidFill>
            <a:prstDash val="solid"/>
          </a:ln>
        </p:spPr>
      </p:sp>
      <p:sp>
        <p:nvSpPr>
          <p:cNvPr id="4" name="Shape 2"/>
          <p:cNvSpPr/>
          <p:nvPr/>
        </p:nvSpPr>
        <p:spPr>
          <a:xfrm>
            <a:off x="754380" y="1485900"/>
            <a:ext cx="594360" cy="594360"/>
          </a:xfrm>
          <a:prstGeom prst="ellipse">
            <a:avLst/>
          </a:prstGeom>
          <a:solidFill>
            <a:srgbClr val="1E6FE0"/>
          </a:solidFill>
          <a:ln w="12700">
            <a:solidFill>
              <a:srgbClr val="1E6FE0"/>
            </a:solidFill>
            <a:prstDash val="solid"/>
          </a:ln>
        </p:spPr>
      </p:sp>
      <p:pic>
        <p:nvPicPr>
          <p:cNvPr id="5" name="Image 0" descr="preencoded.png"/>
          <p:cNvPicPr>
            <a:picLocks noChangeAspect="1"/>
          </p:cNvPicPr>
          <p:nvPr/>
        </p:nvPicPr>
        <p:blipFill>
          <a:blip r:embed="rId3"/>
          <a:stretch>
            <a:fillRect/>
          </a:stretch>
        </p:blipFill>
        <p:spPr>
          <a:xfrm>
            <a:off x="902970" y="1634490"/>
            <a:ext cx="297180" cy="297180"/>
          </a:xfrm>
          <a:prstGeom prst="rect">
            <a:avLst/>
          </a:prstGeom>
        </p:spPr>
      </p:pic>
      <p:sp>
        <p:nvSpPr>
          <p:cNvPr id="6" name="Text 3"/>
          <p:cNvSpPr txBox="1"/>
          <p:nvPr/>
        </p:nvSpPr>
        <p:spPr>
          <a:xfrm>
            <a:off x="1554480" y="1325880"/>
            <a:ext cx="2926080" cy="320040"/>
          </a:xfrm>
          <a:prstGeom prst="rect">
            <a:avLst/>
          </a:prstGeom>
          <a:noFill/>
          <a:ln/>
        </p:spPr>
        <p:txBody>
          <a:bodyPr wrap="square" lIns="0" tIns="0" rIns="0" bIns="0" rtlCol="0" anchor="ctr"/>
          <a:lstStyle/>
          <a:p>
            <a:pPr marL="0" indent="0">
              <a:buNone/>
            </a:pPr>
            <a:r>
              <a:rPr lang="en-US" sz="1800" b="1" dirty="0">
                <a:solidFill>
                  <a:srgbClr val="0B1F4B"/>
                </a:solidFill>
              </a:rPr>
              <a:t>Kruskal’s Algorithm</a:t>
            </a:r>
            <a:endParaRPr lang="en-US" sz="1800" dirty="0"/>
          </a:p>
        </p:txBody>
      </p:sp>
      <p:sp>
        <p:nvSpPr>
          <p:cNvPr id="7" name="Text 4"/>
          <p:cNvSpPr txBox="1"/>
          <p:nvPr/>
        </p:nvSpPr>
        <p:spPr>
          <a:xfrm>
            <a:off x="1554480" y="1664208"/>
            <a:ext cx="2926080" cy="594360"/>
          </a:xfrm>
          <a:prstGeom prst="rect">
            <a:avLst/>
          </a:prstGeom>
          <a:noFill/>
          <a:ln/>
        </p:spPr>
        <p:txBody>
          <a:bodyPr wrap="square" lIns="0" tIns="0" rIns="0" bIns="0" rtlCol="0" anchor="t"/>
          <a:lstStyle/>
          <a:p>
            <a:pPr marL="0" indent="0">
              <a:buNone/>
            </a:pPr>
            <a:r>
              <a:rPr lang="en-US" sz="1400" dirty="0">
                <a:solidFill>
                  <a:srgbClr val="0B1F4B"/>
                </a:solidFill>
              </a:rPr>
              <a:t>Greedy: always pick the cheapest cable that doesn’t form a loop.</a:t>
            </a:r>
          </a:p>
          <a:p>
            <a:pPr marL="0" indent="0">
              <a:buNone/>
            </a:pPr>
            <a:endParaRPr lang="en-US" sz="1400" dirty="0"/>
          </a:p>
        </p:txBody>
      </p:sp>
      <p:sp>
        <p:nvSpPr>
          <p:cNvPr id="8" name="Shape 5"/>
          <p:cNvSpPr/>
          <p:nvPr/>
        </p:nvSpPr>
        <p:spPr>
          <a:xfrm>
            <a:off x="457200" y="2560320"/>
            <a:ext cx="4114800" cy="1188720"/>
          </a:xfrm>
          <a:prstGeom prst="roundRect">
            <a:avLst>
              <a:gd name="adj" fmla="val 9231"/>
            </a:avLst>
          </a:prstGeom>
          <a:solidFill>
            <a:srgbClr val="F1F6FE"/>
          </a:solidFill>
          <a:ln w="12700">
            <a:solidFill>
              <a:srgbClr val="F1F6FE"/>
            </a:solidFill>
            <a:prstDash val="solid"/>
          </a:ln>
        </p:spPr>
      </p:sp>
      <p:sp>
        <p:nvSpPr>
          <p:cNvPr id="9" name="Shape 6"/>
          <p:cNvSpPr/>
          <p:nvPr/>
        </p:nvSpPr>
        <p:spPr>
          <a:xfrm>
            <a:off x="754380" y="2857500"/>
            <a:ext cx="594360" cy="594360"/>
          </a:xfrm>
          <a:prstGeom prst="ellipse">
            <a:avLst/>
          </a:prstGeom>
          <a:solidFill>
            <a:srgbClr val="1E6FE0"/>
          </a:solidFill>
          <a:ln w="12700">
            <a:solidFill>
              <a:srgbClr val="1E6FE0"/>
            </a:solidFill>
            <a:prstDash val="solid"/>
          </a:ln>
        </p:spPr>
      </p:sp>
      <p:pic>
        <p:nvPicPr>
          <p:cNvPr id="10" name="Image 1" descr="preencoded.png"/>
          <p:cNvPicPr>
            <a:picLocks noChangeAspect="1"/>
          </p:cNvPicPr>
          <p:nvPr/>
        </p:nvPicPr>
        <p:blipFill>
          <a:blip r:embed="rId4"/>
          <a:stretch>
            <a:fillRect/>
          </a:stretch>
        </p:blipFill>
        <p:spPr>
          <a:xfrm>
            <a:off x="902970" y="3006090"/>
            <a:ext cx="297180" cy="297180"/>
          </a:xfrm>
          <a:prstGeom prst="rect">
            <a:avLst/>
          </a:prstGeom>
        </p:spPr>
      </p:pic>
      <p:sp>
        <p:nvSpPr>
          <p:cNvPr id="11" name="Text 7"/>
          <p:cNvSpPr txBox="1"/>
          <p:nvPr/>
        </p:nvSpPr>
        <p:spPr>
          <a:xfrm>
            <a:off x="1554480" y="2697480"/>
            <a:ext cx="2926080" cy="320040"/>
          </a:xfrm>
          <a:prstGeom prst="rect">
            <a:avLst/>
          </a:prstGeom>
          <a:noFill/>
          <a:ln/>
        </p:spPr>
        <p:txBody>
          <a:bodyPr wrap="square" lIns="0" tIns="0" rIns="0" bIns="0" rtlCol="0" anchor="ctr"/>
          <a:lstStyle/>
          <a:p>
            <a:pPr marL="0" indent="0">
              <a:buNone/>
            </a:pPr>
            <a:r>
              <a:rPr lang="en-US" sz="1800" b="1" dirty="0">
                <a:solidFill>
                  <a:srgbClr val="0B1F4B"/>
                </a:solidFill>
              </a:rPr>
              <a:t>Union-Find (DSU)</a:t>
            </a:r>
            <a:endParaRPr lang="en-US" sz="1800" dirty="0"/>
          </a:p>
        </p:txBody>
      </p:sp>
      <p:sp>
        <p:nvSpPr>
          <p:cNvPr id="12" name="Text 8"/>
          <p:cNvSpPr txBox="1"/>
          <p:nvPr/>
        </p:nvSpPr>
        <p:spPr>
          <a:xfrm>
            <a:off x="1554480" y="3035808"/>
            <a:ext cx="2926080" cy="594360"/>
          </a:xfrm>
          <a:prstGeom prst="rect">
            <a:avLst/>
          </a:prstGeom>
          <a:noFill/>
          <a:ln/>
        </p:spPr>
        <p:txBody>
          <a:bodyPr wrap="square" lIns="0" tIns="0" rIns="0" bIns="0" rtlCol="0" anchor="t"/>
          <a:lstStyle/>
          <a:p>
            <a:pPr marL="0" indent="0">
              <a:buNone/>
            </a:pPr>
            <a:r>
              <a:rPr lang="en-US" sz="1400" dirty="0">
                <a:solidFill>
                  <a:srgbClr val="0B1F4B"/>
                </a:solidFill>
              </a:rPr>
              <a:t>Quickly checks whether two buildings are already connected.</a:t>
            </a:r>
            <a:endParaRPr lang="en-US" sz="1400" dirty="0"/>
          </a:p>
        </p:txBody>
      </p:sp>
      <p:sp>
        <p:nvSpPr>
          <p:cNvPr id="14" name="Text 10"/>
          <p:cNvSpPr txBox="1"/>
          <p:nvPr/>
        </p:nvSpPr>
        <p:spPr>
          <a:xfrm>
            <a:off x="640080" y="3931920"/>
            <a:ext cx="3749040" cy="640080"/>
          </a:xfrm>
          <a:prstGeom prst="rect">
            <a:avLst/>
          </a:prstGeom>
          <a:noFill/>
          <a:ln/>
        </p:spPr>
        <p:txBody>
          <a:bodyPr wrap="square" lIns="0" tIns="0" rIns="0" bIns="0" rtlCol="0" anchor="ctr"/>
          <a:lstStyle/>
          <a:p>
            <a:pPr marL="0" indent="0">
              <a:buNone/>
            </a:pPr>
            <a:r>
              <a:rPr lang="en-US" sz="1500" b="1" dirty="0">
                <a:solidFill>
                  <a:srgbClr val="FFFFFF"/>
                </a:solidFill>
              </a:rPr>
              <a:t>V buildings need exactly V − 1 cables</a:t>
            </a:r>
            <a:endParaRPr lang="en-US" sz="1500" dirty="0"/>
          </a:p>
        </p:txBody>
      </p:sp>
      <p:sp>
        <p:nvSpPr>
          <p:cNvPr id="15" name="Shape 11"/>
          <p:cNvSpPr/>
          <p:nvPr/>
        </p:nvSpPr>
        <p:spPr>
          <a:xfrm>
            <a:off x="4846320" y="1188720"/>
            <a:ext cx="3840480" cy="3383280"/>
          </a:xfrm>
          <a:prstGeom prst="roundRect">
            <a:avLst>
              <a:gd name="adj" fmla="val 3243"/>
            </a:avLst>
          </a:prstGeom>
          <a:solidFill>
            <a:srgbClr val="F1F6FE"/>
          </a:solidFill>
          <a:ln w="12700">
            <a:solidFill>
              <a:srgbClr val="F1F6FE"/>
            </a:solidFill>
            <a:prstDash val="solid"/>
          </a:ln>
        </p:spPr>
      </p:sp>
      <p:sp>
        <p:nvSpPr>
          <p:cNvPr id="16" name="Text 12"/>
          <p:cNvSpPr txBox="1"/>
          <p:nvPr/>
        </p:nvSpPr>
        <p:spPr>
          <a:xfrm>
            <a:off x="5029200" y="1280160"/>
            <a:ext cx="3474720" cy="274320"/>
          </a:xfrm>
          <a:prstGeom prst="rect">
            <a:avLst/>
          </a:prstGeom>
          <a:noFill/>
          <a:ln/>
        </p:spPr>
        <p:txBody>
          <a:bodyPr wrap="square" lIns="0" tIns="0" rIns="0" bIns="0" rtlCol="0" anchor="ctr"/>
          <a:lstStyle/>
          <a:p>
            <a:pPr marL="0" indent="0">
              <a:buNone/>
            </a:pPr>
            <a:r>
              <a:rPr lang="en-US" sz="1300" b="1" dirty="0">
                <a:solidFill>
                  <a:srgbClr val="0B1F4B"/>
                </a:solidFill>
              </a:rPr>
              <a:t>Example: campus graph</a:t>
            </a:r>
            <a:endParaRPr lang="en-US" sz="1300" dirty="0"/>
          </a:p>
        </p:txBody>
      </p:sp>
      <p:sp>
        <p:nvSpPr>
          <p:cNvPr id="17" name="Shape 13"/>
          <p:cNvSpPr/>
          <p:nvPr/>
        </p:nvSpPr>
        <p:spPr>
          <a:xfrm>
            <a:off x="5257800" y="2103120"/>
            <a:ext cx="1143000" cy="0"/>
          </a:xfrm>
          <a:prstGeom prst="line">
            <a:avLst/>
          </a:prstGeom>
          <a:noFill/>
          <a:ln w="25400">
            <a:solidFill>
              <a:srgbClr val="7A93C4"/>
            </a:solidFill>
            <a:prstDash val="solid"/>
          </a:ln>
        </p:spPr>
      </p:sp>
      <p:sp>
        <p:nvSpPr>
          <p:cNvPr id="18" name="Shape 14"/>
          <p:cNvSpPr/>
          <p:nvPr/>
        </p:nvSpPr>
        <p:spPr>
          <a:xfrm>
            <a:off x="5257800" y="2103120"/>
            <a:ext cx="0" cy="1433322"/>
          </a:xfrm>
          <a:prstGeom prst="line">
            <a:avLst/>
          </a:prstGeom>
          <a:noFill/>
          <a:ln w="25400">
            <a:solidFill>
              <a:srgbClr val="7A93C4"/>
            </a:solidFill>
            <a:prstDash val="solid"/>
          </a:ln>
        </p:spPr>
      </p:sp>
      <p:sp>
        <p:nvSpPr>
          <p:cNvPr id="19" name="Shape 15"/>
          <p:cNvSpPr/>
          <p:nvPr/>
        </p:nvSpPr>
        <p:spPr>
          <a:xfrm flipV="1">
            <a:off x="5257800" y="2103120"/>
            <a:ext cx="1143000" cy="1433322"/>
          </a:xfrm>
          <a:prstGeom prst="line">
            <a:avLst/>
          </a:prstGeom>
          <a:noFill/>
          <a:ln w="25400">
            <a:solidFill>
              <a:srgbClr val="7A93C4"/>
            </a:solidFill>
            <a:prstDash val="solid"/>
          </a:ln>
        </p:spPr>
      </p:sp>
      <p:sp>
        <p:nvSpPr>
          <p:cNvPr id="20" name="Shape 16"/>
          <p:cNvSpPr/>
          <p:nvPr/>
        </p:nvSpPr>
        <p:spPr>
          <a:xfrm>
            <a:off x="6400800" y="2103120"/>
            <a:ext cx="1143000" cy="497891"/>
          </a:xfrm>
          <a:prstGeom prst="line">
            <a:avLst/>
          </a:prstGeom>
          <a:noFill/>
          <a:ln w="25400">
            <a:solidFill>
              <a:srgbClr val="7A93C4"/>
            </a:solidFill>
            <a:prstDash val="solid"/>
          </a:ln>
        </p:spPr>
      </p:sp>
      <p:sp>
        <p:nvSpPr>
          <p:cNvPr id="21" name="Shape 17"/>
          <p:cNvSpPr/>
          <p:nvPr/>
        </p:nvSpPr>
        <p:spPr>
          <a:xfrm flipV="1">
            <a:off x="5257800" y="2601011"/>
            <a:ext cx="2286000" cy="935431"/>
          </a:xfrm>
          <a:prstGeom prst="line">
            <a:avLst/>
          </a:prstGeom>
          <a:noFill/>
          <a:ln w="25400">
            <a:solidFill>
              <a:srgbClr val="7A93C4"/>
            </a:solidFill>
            <a:prstDash val="solid"/>
          </a:ln>
        </p:spPr>
      </p:sp>
      <p:sp>
        <p:nvSpPr>
          <p:cNvPr id="22" name="Shape 18"/>
          <p:cNvSpPr/>
          <p:nvPr/>
        </p:nvSpPr>
        <p:spPr>
          <a:xfrm>
            <a:off x="5257800" y="3536442"/>
            <a:ext cx="1714500" cy="75438"/>
          </a:xfrm>
          <a:prstGeom prst="line">
            <a:avLst/>
          </a:prstGeom>
          <a:noFill/>
          <a:ln w="25400">
            <a:solidFill>
              <a:srgbClr val="7A93C4"/>
            </a:solidFill>
            <a:prstDash val="solid"/>
          </a:ln>
        </p:spPr>
      </p:sp>
      <p:sp>
        <p:nvSpPr>
          <p:cNvPr id="23" name="Shape 19"/>
          <p:cNvSpPr/>
          <p:nvPr/>
        </p:nvSpPr>
        <p:spPr>
          <a:xfrm flipV="1">
            <a:off x="6972300" y="2601011"/>
            <a:ext cx="571500" cy="1010869"/>
          </a:xfrm>
          <a:prstGeom prst="line">
            <a:avLst/>
          </a:prstGeom>
          <a:noFill/>
          <a:ln w="25400">
            <a:solidFill>
              <a:srgbClr val="7A93C4"/>
            </a:solidFill>
            <a:prstDash val="solid"/>
          </a:ln>
        </p:spPr>
      </p:sp>
      <p:sp>
        <p:nvSpPr>
          <p:cNvPr id="24" name="Shape 20"/>
          <p:cNvSpPr/>
          <p:nvPr/>
        </p:nvSpPr>
        <p:spPr>
          <a:xfrm>
            <a:off x="5682996" y="1993392"/>
            <a:ext cx="292608" cy="219456"/>
          </a:xfrm>
          <a:prstGeom prst="roundRect">
            <a:avLst>
              <a:gd name="adj" fmla="val 25000"/>
            </a:avLst>
          </a:prstGeom>
          <a:solidFill>
            <a:srgbClr val="FFFFFF"/>
          </a:solidFill>
          <a:ln w="12700">
            <a:solidFill>
              <a:srgbClr val="7A93C4"/>
            </a:solidFill>
            <a:prstDash val="solid"/>
          </a:ln>
        </p:spPr>
      </p:sp>
      <p:sp>
        <p:nvSpPr>
          <p:cNvPr id="25" name="Text 21"/>
          <p:cNvSpPr txBox="1"/>
          <p:nvPr/>
        </p:nvSpPr>
        <p:spPr>
          <a:xfrm>
            <a:off x="5682996" y="1993392"/>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4</a:t>
            </a:r>
            <a:endParaRPr lang="en-US" sz="1100" dirty="0"/>
          </a:p>
        </p:txBody>
      </p:sp>
      <p:sp>
        <p:nvSpPr>
          <p:cNvPr id="26" name="Shape 22"/>
          <p:cNvSpPr/>
          <p:nvPr/>
        </p:nvSpPr>
        <p:spPr>
          <a:xfrm>
            <a:off x="5111496" y="2710053"/>
            <a:ext cx="292608" cy="219456"/>
          </a:xfrm>
          <a:prstGeom prst="roundRect">
            <a:avLst>
              <a:gd name="adj" fmla="val 25000"/>
            </a:avLst>
          </a:prstGeom>
          <a:solidFill>
            <a:srgbClr val="FFFFFF"/>
          </a:solidFill>
          <a:ln w="12700">
            <a:solidFill>
              <a:srgbClr val="7A93C4"/>
            </a:solidFill>
            <a:prstDash val="solid"/>
          </a:ln>
        </p:spPr>
      </p:sp>
      <p:sp>
        <p:nvSpPr>
          <p:cNvPr id="27" name="Text 23"/>
          <p:cNvSpPr txBox="1"/>
          <p:nvPr/>
        </p:nvSpPr>
        <p:spPr>
          <a:xfrm>
            <a:off x="5111496" y="2710053"/>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2</a:t>
            </a:r>
            <a:endParaRPr lang="en-US" sz="1100" dirty="0"/>
          </a:p>
        </p:txBody>
      </p:sp>
      <p:sp>
        <p:nvSpPr>
          <p:cNvPr id="28" name="Shape 24"/>
          <p:cNvSpPr/>
          <p:nvPr/>
        </p:nvSpPr>
        <p:spPr>
          <a:xfrm>
            <a:off x="5682996" y="2710053"/>
            <a:ext cx="292608" cy="219456"/>
          </a:xfrm>
          <a:prstGeom prst="roundRect">
            <a:avLst>
              <a:gd name="adj" fmla="val 25000"/>
            </a:avLst>
          </a:prstGeom>
          <a:solidFill>
            <a:srgbClr val="FFFFFF"/>
          </a:solidFill>
          <a:ln w="12700">
            <a:solidFill>
              <a:srgbClr val="7A93C4"/>
            </a:solidFill>
            <a:prstDash val="solid"/>
          </a:ln>
        </p:spPr>
      </p:sp>
      <p:sp>
        <p:nvSpPr>
          <p:cNvPr id="29" name="Text 25"/>
          <p:cNvSpPr txBox="1"/>
          <p:nvPr/>
        </p:nvSpPr>
        <p:spPr>
          <a:xfrm>
            <a:off x="5682996" y="2710053"/>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5</a:t>
            </a:r>
            <a:endParaRPr lang="en-US" sz="1100" dirty="0"/>
          </a:p>
        </p:txBody>
      </p:sp>
      <p:sp>
        <p:nvSpPr>
          <p:cNvPr id="30" name="Shape 26"/>
          <p:cNvSpPr/>
          <p:nvPr/>
        </p:nvSpPr>
        <p:spPr>
          <a:xfrm>
            <a:off x="6825996" y="2242337"/>
            <a:ext cx="292608" cy="219456"/>
          </a:xfrm>
          <a:prstGeom prst="roundRect">
            <a:avLst>
              <a:gd name="adj" fmla="val 25000"/>
            </a:avLst>
          </a:prstGeom>
          <a:solidFill>
            <a:srgbClr val="FFFFFF"/>
          </a:solidFill>
          <a:ln w="12700">
            <a:solidFill>
              <a:srgbClr val="7A93C4"/>
            </a:solidFill>
            <a:prstDash val="solid"/>
          </a:ln>
        </p:spPr>
      </p:sp>
      <p:sp>
        <p:nvSpPr>
          <p:cNvPr id="31" name="Text 27"/>
          <p:cNvSpPr txBox="1"/>
          <p:nvPr/>
        </p:nvSpPr>
        <p:spPr>
          <a:xfrm>
            <a:off x="6825996" y="2242337"/>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3</a:t>
            </a:r>
            <a:endParaRPr lang="en-US" sz="1100" dirty="0"/>
          </a:p>
        </p:txBody>
      </p:sp>
      <p:sp>
        <p:nvSpPr>
          <p:cNvPr id="32" name="Shape 28"/>
          <p:cNvSpPr/>
          <p:nvPr/>
        </p:nvSpPr>
        <p:spPr>
          <a:xfrm>
            <a:off x="6254496" y="2958998"/>
            <a:ext cx="292608" cy="219456"/>
          </a:xfrm>
          <a:prstGeom prst="roundRect">
            <a:avLst>
              <a:gd name="adj" fmla="val 25000"/>
            </a:avLst>
          </a:prstGeom>
          <a:solidFill>
            <a:srgbClr val="FFFFFF"/>
          </a:solidFill>
          <a:ln w="12700">
            <a:solidFill>
              <a:srgbClr val="7A93C4"/>
            </a:solidFill>
            <a:prstDash val="solid"/>
          </a:ln>
        </p:spPr>
      </p:sp>
      <p:sp>
        <p:nvSpPr>
          <p:cNvPr id="33" name="Text 29"/>
          <p:cNvSpPr txBox="1"/>
          <p:nvPr/>
        </p:nvSpPr>
        <p:spPr>
          <a:xfrm>
            <a:off x="6254496" y="2958998"/>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6</a:t>
            </a:r>
            <a:endParaRPr lang="en-US" sz="1100" dirty="0"/>
          </a:p>
        </p:txBody>
      </p:sp>
      <p:sp>
        <p:nvSpPr>
          <p:cNvPr id="34" name="Shape 30"/>
          <p:cNvSpPr/>
          <p:nvPr/>
        </p:nvSpPr>
        <p:spPr>
          <a:xfrm>
            <a:off x="5968746" y="3464433"/>
            <a:ext cx="292608" cy="219456"/>
          </a:xfrm>
          <a:prstGeom prst="roundRect">
            <a:avLst>
              <a:gd name="adj" fmla="val 25000"/>
            </a:avLst>
          </a:prstGeom>
          <a:solidFill>
            <a:srgbClr val="FFFFFF"/>
          </a:solidFill>
          <a:ln w="12700">
            <a:solidFill>
              <a:srgbClr val="7A93C4"/>
            </a:solidFill>
            <a:prstDash val="solid"/>
          </a:ln>
        </p:spPr>
      </p:sp>
      <p:sp>
        <p:nvSpPr>
          <p:cNvPr id="35" name="Text 31"/>
          <p:cNvSpPr txBox="1"/>
          <p:nvPr/>
        </p:nvSpPr>
        <p:spPr>
          <a:xfrm>
            <a:off x="5968746" y="3464433"/>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7</a:t>
            </a:r>
            <a:endParaRPr lang="en-US" sz="1100" dirty="0"/>
          </a:p>
        </p:txBody>
      </p:sp>
      <p:sp>
        <p:nvSpPr>
          <p:cNvPr id="36" name="Shape 32"/>
          <p:cNvSpPr/>
          <p:nvPr/>
        </p:nvSpPr>
        <p:spPr>
          <a:xfrm>
            <a:off x="7111746" y="2996717"/>
            <a:ext cx="292608" cy="219456"/>
          </a:xfrm>
          <a:prstGeom prst="roundRect">
            <a:avLst>
              <a:gd name="adj" fmla="val 25000"/>
            </a:avLst>
          </a:prstGeom>
          <a:solidFill>
            <a:srgbClr val="FFFFFF"/>
          </a:solidFill>
          <a:ln w="12700">
            <a:solidFill>
              <a:srgbClr val="7A93C4"/>
            </a:solidFill>
            <a:prstDash val="solid"/>
          </a:ln>
        </p:spPr>
      </p:sp>
      <p:sp>
        <p:nvSpPr>
          <p:cNvPr id="37" name="Text 33"/>
          <p:cNvSpPr txBox="1"/>
          <p:nvPr/>
        </p:nvSpPr>
        <p:spPr>
          <a:xfrm>
            <a:off x="7111746" y="2996717"/>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1</a:t>
            </a:r>
            <a:endParaRPr lang="en-US" sz="1100" dirty="0"/>
          </a:p>
        </p:txBody>
      </p:sp>
      <p:sp>
        <p:nvSpPr>
          <p:cNvPr id="38" name="Text 34"/>
          <p:cNvSpPr/>
          <p:nvPr/>
        </p:nvSpPr>
        <p:spPr>
          <a:xfrm>
            <a:off x="5056632" y="1901952"/>
            <a:ext cx="402336" cy="402336"/>
          </a:xfrm>
          <a:prstGeom prst="ellipse">
            <a:avLst/>
          </a:prstGeom>
          <a:solidFill>
            <a:srgbClr val="1E6FE0"/>
          </a:solidFill>
          <a:ln w="25400">
            <a:solidFill>
              <a:srgbClr val="1E6FE0"/>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39" name="Text 35"/>
          <p:cNvSpPr txBox="1"/>
          <p:nvPr/>
        </p:nvSpPr>
        <p:spPr>
          <a:xfrm>
            <a:off x="4754880" y="1655064"/>
            <a:ext cx="1005840" cy="219456"/>
          </a:xfrm>
          <a:prstGeom prst="rect">
            <a:avLst/>
          </a:prstGeom>
          <a:noFill/>
          <a:ln/>
        </p:spPr>
        <p:txBody>
          <a:bodyPr wrap="square" lIns="0" tIns="0" rIns="0" bIns="0" rtlCol="0" anchor="ctr"/>
          <a:lstStyle/>
          <a:p>
            <a:pPr marL="0" indent="0" algn="ctr">
              <a:buNone/>
            </a:pPr>
            <a:r>
              <a:rPr lang="en-US" sz="1100" b="1" dirty="0">
                <a:solidFill>
                  <a:srgbClr val="0B1F4B"/>
                </a:solidFill>
              </a:rPr>
              <a:t>Library</a:t>
            </a:r>
            <a:endParaRPr lang="en-US" sz="1100" dirty="0"/>
          </a:p>
        </p:txBody>
      </p:sp>
      <p:sp>
        <p:nvSpPr>
          <p:cNvPr id="40" name="Text 36"/>
          <p:cNvSpPr/>
          <p:nvPr/>
        </p:nvSpPr>
        <p:spPr>
          <a:xfrm>
            <a:off x="6199632" y="1901952"/>
            <a:ext cx="402336" cy="402336"/>
          </a:xfrm>
          <a:prstGeom prst="ellipse">
            <a:avLst/>
          </a:prstGeom>
          <a:solidFill>
            <a:srgbClr val="1E6FE0"/>
          </a:solidFill>
          <a:ln w="25400">
            <a:solidFill>
              <a:srgbClr val="1E6FE0"/>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41" name="Text 37"/>
          <p:cNvSpPr txBox="1"/>
          <p:nvPr/>
        </p:nvSpPr>
        <p:spPr>
          <a:xfrm>
            <a:off x="5897880" y="1655064"/>
            <a:ext cx="1005840" cy="219456"/>
          </a:xfrm>
          <a:prstGeom prst="rect">
            <a:avLst/>
          </a:prstGeom>
          <a:noFill/>
          <a:ln/>
        </p:spPr>
        <p:txBody>
          <a:bodyPr wrap="square" lIns="0" tIns="0" rIns="0" bIns="0" rtlCol="0" anchor="ctr"/>
          <a:lstStyle/>
          <a:p>
            <a:pPr marL="0" indent="0" algn="ctr">
              <a:buNone/>
            </a:pPr>
            <a:r>
              <a:rPr lang="en-US" sz="1100" b="1" dirty="0">
                <a:solidFill>
                  <a:srgbClr val="0B1F4B"/>
                </a:solidFill>
              </a:rPr>
              <a:t>Admin</a:t>
            </a:r>
            <a:endParaRPr lang="en-US" sz="1100" dirty="0"/>
          </a:p>
        </p:txBody>
      </p:sp>
      <p:sp>
        <p:nvSpPr>
          <p:cNvPr id="42" name="Text 38"/>
          <p:cNvSpPr/>
          <p:nvPr/>
        </p:nvSpPr>
        <p:spPr>
          <a:xfrm>
            <a:off x="7342632" y="2399843"/>
            <a:ext cx="402336" cy="402336"/>
          </a:xfrm>
          <a:prstGeom prst="ellipse">
            <a:avLst/>
          </a:prstGeom>
          <a:solidFill>
            <a:srgbClr val="1E6FE0"/>
          </a:solidFill>
          <a:ln w="25400">
            <a:solidFill>
              <a:srgbClr val="1E6FE0"/>
            </a:solidFill>
          </a:ln>
        </p:spPr>
        <p:txBody>
          <a:bodyPr wrap="square" lIns="0" tIns="0" rIns="0" bIns="0" rtlCol="0" anchor="ctr"/>
          <a:lstStyle/>
          <a:p>
            <a:pPr marL="0" indent="0" algn="ctr">
              <a:buNone/>
            </a:pPr>
            <a:r>
              <a:rPr lang="en-US" sz="1200" b="1" dirty="0">
                <a:solidFill>
                  <a:srgbClr val="FFFFFF"/>
                </a:solidFill>
              </a:rPr>
              <a:t>D</a:t>
            </a:r>
            <a:endParaRPr lang="en-US" sz="1200" dirty="0"/>
          </a:p>
        </p:txBody>
      </p:sp>
      <p:sp>
        <p:nvSpPr>
          <p:cNvPr id="43" name="Text 39"/>
          <p:cNvSpPr txBox="1"/>
          <p:nvPr/>
        </p:nvSpPr>
        <p:spPr>
          <a:xfrm>
            <a:off x="7799832" y="2491283"/>
            <a:ext cx="914400" cy="219456"/>
          </a:xfrm>
          <a:prstGeom prst="rect">
            <a:avLst/>
          </a:prstGeom>
          <a:noFill/>
          <a:ln/>
        </p:spPr>
        <p:txBody>
          <a:bodyPr wrap="square" lIns="0" tIns="0" rIns="0" bIns="0" rtlCol="0" anchor="ctr"/>
          <a:lstStyle/>
          <a:p>
            <a:pPr marL="0" indent="0" algn="l">
              <a:buNone/>
            </a:pPr>
            <a:r>
              <a:rPr lang="en-US" sz="1100" b="1" dirty="0">
                <a:solidFill>
                  <a:srgbClr val="0B1F4B"/>
                </a:solidFill>
              </a:rPr>
              <a:t>Lab</a:t>
            </a:r>
            <a:endParaRPr lang="en-US" sz="1100" dirty="0"/>
          </a:p>
        </p:txBody>
      </p:sp>
      <p:sp>
        <p:nvSpPr>
          <p:cNvPr id="44" name="Text 40"/>
          <p:cNvSpPr/>
          <p:nvPr/>
        </p:nvSpPr>
        <p:spPr>
          <a:xfrm>
            <a:off x="5056632" y="3335274"/>
            <a:ext cx="402336" cy="402336"/>
          </a:xfrm>
          <a:prstGeom prst="ellipse">
            <a:avLst/>
          </a:prstGeom>
          <a:solidFill>
            <a:srgbClr val="1E6FE0"/>
          </a:solidFill>
          <a:ln w="25400">
            <a:solidFill>
              <a:srgbClr val="1E6FE0"/>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45" name="Text 41"/>
          <p:cNvSpPr txBox="1"/>
          <p:nvPr/>
        </p:nvSpPr>
        <p:spPr>
          <a:xfrm>
            <a:off x="4754880" y="3765042"/>
            <a:ext cx="1005840" cy="219456"/>
          </a:xfrm>
          <a:prstGeom prst="rect">
            <a:avLst/>
          </a:prstGeom>
          <a:noFill/>
          <a:ln/>
        </p:spPr>
        <p:txBody>
          <a:bodyPr wrap="square" lIns="0" tIns="0" rIns="0" bIns="0" rtlCol="0" anchor="ctr"/>
          <a:lstStyle/>
          <a:p>
            <a:pPr marL="0" indent="0" algn="ctr">
              <a:buNone/>
            </a:pPr>
            <a:r>
              <a:rPr lang="en-US" sz="1100" b="1" dirty="0">
                <a:solidFill>
                  <a:srgbClr val="0B1F4B"/>
                </a:solidFill>
              </a:rPr>
              <a:t>Hostel</a:t>
            </a:r>
            <a:endParaRPr lang="en-US" sz="1100" dirty="0"/>
          </a:p>
        </p:txBody>
      </p:sp>
      <p:sp>
        <p:nvSpPr>
          <p:cNvPr id="46" name="Text 42"/>
          <p:cNvSpPr/>
          <p:nvPr/>
        </p:nvSpPr>
        <p:spPr>
          <a:xfrm>
            <a:off x="6771132" y="3410712"/>
            <a:ext cx="402336" cy="402336"/>
          </a:xfrm>
          <a:prstGeom prst="ellipse">
            <a:avLst/>
          </a:prstGeom>
          <a:solidFill>
            <a:srgbClr val="1E6FE0"/>
          </a:solidFill>
          <a:ln w="25400">
            <a:solidFill>
              <a:srgbClr val="1E6FE0"/>
            </a:solidFill>
          </a:ln>
        </p:spPr>
        <p:txBody>
          <a:bodyPr wrap="square" lIns="0" tIns="0" rIns="0" bIns="0" rtlCol="0" anchor="ctr"/>
          <a:lstStyle/>
          <a:p>
            <a:pPr marL="0" indent="0" algn="ctr">
              <a:buNone/>
            </a:pPr>
            <a:r>
              <a:rPr lang="en-US" sz="1200" b="1" dirty="0">
                <a:solidFill>
                  <a:srgbClr val="FFFFFF"/>
                </a:solidFill>
              </a:rPr>
              <a:t>E</a:t>
            </a:r>
            <a:endParaRPr lang="en-US" sz="1200" dirty="0"/>
          </a:p>
        </p:txBody>
      </p:sp>
      <p:sp>
        <p:nvSpPr>
          <p:cNvPr id="47" name="Text 43"/>
          <p:cNvSpPr txBox="1"/>
          <p:nvPr/>
        </p:nvSpPr>
        <p:spPr>
          <a:xfrm>
            <a:off x="6469380" y="3840480"/>
            <a:ext cx="1005840" cy="219456"/>
          </a:xfrm>
          <a:prstGeom prst="rect">
            <a:avLst/>
          </a:prstGeom>
          <a:noFill/>
          <a:ln/>
        </p:spPr>
        <p:txBody>
          <a:bodyPr wrap="square" lIns="0" tIns="0" rIns="0" bIns="0" rtlCol="0" anchor="ctr"/>
          <a:lstStyle/>
          <a:p>
            <a:pPr marL="0" indent="0" algn="ctr">
              <a:buNone/>
            </a:pPr>
            <a:r>
              <a:rPr lang="en-US" sz="1100" b="1" dirty="0">
                <a:solidFill>
                  <a:srgbClr val="0B1F4B"/>
                </a:solidFill>
              </a:rPr>
              <a:t>Canteen</a:t>
            </a:r>
            <a:endParaRPr lang="en-US" sz="1100" dirty="0"/>
          </a:p>
        </p:txBody>
      </p:sp>
      <p:sp>
        <p:nvSpPr>
          <p:cNvPr id="48" name="Text 44"/>
          <p:cNvSpPr txBox="1"/>
          <p:nvPr/>
        </p:nvSpPr>
        <p:spPr>
          <a:xfrm>
            <a:off x="5029200" y="4114800"/>
            <a:ext cx="3474720" cy="274320"/>
          </a:xfrm>
          <a:prstGeom prst="rect">
            <a:avLst/>
          </a:prstGeom>
          <a:noFill/>
          <a:ln/>
        </p:spPr>
        <p:txBody>
          <a:bodyPr wrap="square" lIns="0" tIns="0" rIns="0" bIns="0" rtlCol="0" anchor="ctr"/>
          <a:lstStyle/>
          <a:p>
            <a:pPr marL="0" indent="0">
              <a:buNone/>
            </a:pPr>
            <a:r>
              <a:rPr lang="en-US" sz="1100" dirty="0">
                <a:solidFill>
                  <a:srgbClr val="5B6B8C"/>
                </a:solidFill>
              </a:rPr>
              <a:t>5 buildings · 7 possible cables (numbers = cost)</a:t>
            </a:r>
            <a:endParaRPr lang="en-US" sz="1100" dirty="0"/>
          </a:p>
        </p:txBody>
      </p:sp>
      <p:sp>
        <p:nvSpPr>
          <p:cNvPr id="49"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BA8"/>
                </a:solidFill>
              </a:defRPr>
            </a:lvl1pPr>
          </a:lstStyle>
          <a:p>
            <a:pPr algn="r"/>
            <a:fld id="{F7021451-1387-4CA6-816F-3879F97B5CBC}" type="slidenum">
              <a:rPr lang="en-US" b="0"/>
              <a:t>3</a:t>
            </a:fld>
            <a:endParaRPr lang="en-US"/>
          </a:p>
        </p:txBody>
      </p:sp>
      <p:pic>
        <p:nvPicPr>
          <p:cNvPr id="51" name="Picture 50">
            <a:extLst>
              <a:ext uri="{FF2B5EF4-FFF2-40B4-BE49-F238E27FC236}">
                <a16:creationId xmlns:a16="http://schemas.microsoft.com/office/drawing/2014/main" id="{E926291F-EECF-3F42-2356-A8E1C93F5F9F}"/>
              </a:ext>
            </a:extLst>
          </p:cNvPr>
          <p:cNvPicPr>
            <a:picLocks noChangeAspect="1"/>
          </p:cNvPicPr>
          <p:nvPr/>
        </p:nvPicPr>
        <p:blipFill>
          <a:blip r:embed="rId5"/>
          <a:stretch>
            <a:fillRect/>
          </a:stretch>
        </p:blipFill>
        <p:spPr>
          <a:xfrm>
            <a:off x="301752" y="3838194"/>
            <a:ext cx="4498848" cy="8762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rgbClr val="0B1F4B"/>
                </a:solidFill>
              </a:rPr>
              <a:t>Technology &amp; Architecture</a:t>
            </a:r>
            <a:endParaRPr lang="en-US" sz="3400" dirty="0"/>
          </a:p>
        </p:txBody>
      </p:sp>
      <p:sp>
        <p:nvSpPr>
          <p:cNvPr id="3" name="Shape 1"/>
          <p:cNvSpPr/>
          <p:nvPr/>
        </p:nvSpPr>
        <p:spPr>
          <a:xfrm>
            <a:off x="457200" y="1234440"/>
            <a:ext cx="1371600" cy="1828800"/>
          </a:xfrm>
          <a:prstGeom prst="roundRect">
            <a:avLst>
              <a:gd name="adj" fmla="val 8000"/>
            </a:avLst>
          </a:prstGeom>
          <a:solidFill>
            <a:srgbClr val="FFFFFF"/>
          </a:solidFill>
          <a:ln w="12700">
            <a:solidFill>
              <a:srgbClr val="CBD6EA"/>
            </a:solidFill>
            <a:prstDash val="solid"/>
          </a:ln>
          <a:effectLst>
            <a:outerShdw blurRad="76200" dist="25400" dir="5400000" algn="bl" rotWithShape="0">
              <a:srgbClr val="000000">
                <a:alpha val="12000"/>
              </a:srgbClr>
            </a:outerShdw>
          </a:effectLst>
        </p:spPr>
      </p:sp>
      <p:sp>
        <p:nvSpPr>
          <p:cNvPr id="4" name="Shape 2"/>
          <p:cNvSpPr/>
          <p:nvPr/>
        </p:nvSpPr>
        <p:spPr>
          <a:xfrm>
            <a:off x="891540" y="1412748"/>
            <a:ext cx="502920" cy="502920"/>
          </a:xfrm>
          <a:prstGeom prst="ellipse">
            <a:avLst/>
          </a:prstGeom>
          <a:solidFill>
            <a:srgbClr val="1E6FE0"/>
          </a:solidFill>
          <a:ln w="12700">
            <a:solidFill>
              <a:srgbClr val="1E6FE0"/>
            </a:solidFill>
            <a:prstDash val="solid"/>
          </a:ln>
        </p:spPr>
      </p:sp>
      <p:pic>
        <p:nvPicPr>
          <p:cNvPr id="5" name="Image 0" descr="preencoded.png"/>
          <p:cNvPicPr>
            <a:picLocks noChangeAspect="1"/>
          </p:cNvPicPr>
          <p:nvPr/>
        </p:nvPicPr>
        <p:blipFill>
          <a:blip r:embed="rId3"/>
          <a:stretch>
            <a:fillRect/>
          </a:stretch>
        </p:blipFill>
        <p:spPr>
          <a:xfrm>
            <a:off x="1017270" y="1538478"/>
            <a:ext cx="251460" cy="251460"/>
          </a:xfrm>
          <a:prstGeom prst="rect">
            <a:avLst/>
          </a:prstGeom>
        </p:spPr>
      </p:pic>
      <p:sp>
        <p:nvSpPr>
          <p:cNvPr id="6" name="Text 3"/>
          <p:cNvSpPr txBox="1"/>
          <p:nvPr/>
        </p:nvSpPr>
        <p:spPr>
          <a:xfrm>
            <a:off x="530352" y="2057400"/>
            <a:ext cx="1225296" cy="914400"/>
          </a:xfrm>
          <a:prstGeom prst="rect">
            <a:avLst/>
          </a:prstGeom>
          <a:noFill/>
          <a:ln/>
        </p:spPr>
        <p:txBody>
          <a:bodyPr wrap="square" lIns="0" tIns="0" rIns="0" bIns="0" rtlCol="0" anchor="t"/>
          <a:lstStyle/>
          <a:p>
            <a:pPr marL="0" indent="0" algn="ctr">
              <a:buNone/>
            </a:pPr>
            <a:r>
              <a:rPr lang="en-US" sz="1300" b="1" dirty="0">
                <a:solidFill>
                  <a:srgbClr val="0B1F4B"/>
                </a:solidFill>
              </a:rPr>
              <a:t>React.js</a:t>
            </a:r>
            <a:endParaRPr lang="en-US" sz="1300" dirty="0"/>
          </a:p>
          <a:p>
            <a:pPr marL="0" indent="0" algn="ctr">
              <a:buNone/>
            </a:pPr>
            <a:r>
              <a:rPr lang="en-US" sz="1100" dirty="0">
                <a:solidFill>
                  <a:srgbClr val="5B6B8C"/>
                </a:solidFill>
              </a:rPr>
              <a:t>User enters buildings &amp; costs</a:t>
            </a:r>
            <a:endParaRPr lang="en-US" sz="1300" dirty="0"/>
          </a:p>
        </p:txBody>
      </p:sp>
      <p:sp>
        <p:nvSpPr>
          <p:cNvPr id="7" name="Shape 4"/>
          <p:cNvSpPr/>
          <p:nvPr/>
        </p:nvSpPr>
        <p:spPr>
          <a:xfrm>
            <a:off x="1828800" y="2148840"/>
            <a:ext cx="342900" cy="0"/>
          </a:xfrm>
          <a:prstGeom prst="line">
            <a:avLst/>
          </a:prstGeom>
          <a:noFill/>
          <a:ln w="25400">
            <a:solidFill>
              <a:srgbClr val="1E6FE0"/>
            </a:solidFill>
            <a:prstDash val="solid"/>
            <a:tailEnd type="triangle"/>
          </a:ln>
        </p:spPr>
      </p:sp>
      <p:sp>
        <p:nvSpPr>
          <p:cNvPr id="8" name="Shape 5"/>
          <p:cNvSpPr/>
          <p:nvPr/>
        </p:nvSpPr>
        <p:spPr>
          <a:xfrm>
            <a:off x="2171700" y="1234440"/>
            <a:ext cx="1371600" cy="1828800"/>
          </a:xfrm>
          <a:prstGeom prst="roundRect">
            <a:avLst>
              <a:gd name="adj" fmla="val 8000"/>
            </a:avLst>
          </a:prstGeom>
          <a:solidFill>
            <a:srgbClr val="FFFFFF"/>
          </a:solidFill>
          <a:ln w="12700">
            <a:solidFill>
              <a:srgbClr val="CBD6EA"/>
            </a:solidFill>
            <a:prstDash val="solid"/>
          </a:ln>
          <a:effectLst>
            <a:outerShdw blurRad="76200" dist="25400" dir="5400000" algn="bl" rotWithShape="0">
              <a:srgbClr val="000000">
                <a:alpha val="12000"/>
              </a:srgbClr>
            </a:outerShdw>
          </a:effectLst>
        </p:spPr>
      </p:sp>
      <p:sp>
        <p:nvSpPr>
          <p:cNvPr id="9" name="Shape 6"/>
          <p:cNvSpPr/>
          <p:nvPr/>
        </p:nvSpPr>
        <p:spPr>
          <a:xfrm>
            <a:off x="2606040" y="1412748"/>
            <a:ext cx="502920" cy="502920"/>
          </a:xfrm>
          <a:prstGeom prst="ellipse">
            <a:avLst/>
          </a:prstGeom>
          <a:solidFill>
            <a:srgbClr val="1E6FE0"/>
          </a:solidFill>
          <a:ln w="12700">
            <a:solidFill>
              <a:srgbClr val="1E6FE0"/>
            </a:solidFill>
            <a:prstDash val="solid"/>
          </a:ln>
        </p:spPr>
      </p:sp>
      <p:pic>
        <p:nvPicPr>
          <p:cNvPr id="10" name="Image 1" descr="preencoded.png"/>
          <p:cNvPicPr>
            <a:picLocks noChangeAspect="1"/>
          </p:cNvPicPr>
          <p:nvPr/>
        </p:nvPicPr>
        <p:blipFill>
          <a:blip r:embed="rId4"/>
          <a:stretch>
            <a:fillRect/>
          </a:stretch>
        </p:blipFill>
        <p:spPr>
          <a:xfrm>
            <a:off x="2731770" y="1538478"/>
            <a:ext cx="251460" cy="251460"/>
          </a:xfrm>
          <a:prstGeom prst="rect">
            <a:avLst/>
          </a:prstGeom>
        </p:spPr>
      </p:pic>
      <p:sp>
        <p:nvSpPr>
          <p:cNvPr id="11" name="Text 7"/>
          <p:cNvSpPr txBox="1"/>
          <p:nvPr/>
        </p:nvSpPr>
        <p:spPr>
          <a:xfrm>
            <a:off x="2244852" y="2057400"/>
            <a:ext cx="1225296" cy="914400"/>
          </a:xfrm>
          <a:prstGeom prst="rect">
            <a:avLst/>
          </a:prstGeom>
          <a:noFill/>
          <a:ln/>
        </p:spPr>
        <p:txBody>
          <a:bodyPr wrap="square" lIns="0" tIns="0" rIns="0" bIns="0" rtlCol="0" anchor="t"/>
          <a:lstStyle/>
          <a:p>
            <a:pPr marL="0" indent="0" algn="ctr">
              <a:buNone/>
            </a:pPr>
            <a:r>
              <a:rPr lang="en-US" sz="1300" b="1" dirty="0">
                <a:solidFill>
                  <a:srgbClr val="0B1F4B"/>
                </a:solidFill>
              </a:rPr>
              <a:t>Python Backend</a:t>
            </a:r>
            <a:endParaRPr lang="en-US" sz="1300" dirty="0"/>
          </a:p>
          <a:p>
            <a:pPr marL="0" indent="0" algn="ctr">
              <a:buNone/>
            </a:pPr>
            <a:r>
              <a:rPr lang="en-US" sz="1100" dirty="0">
                <a:solidFill>
                  <a:srgbClr val="5B6B8C"/>
                </a:solidFill>
              </a:rPr>
              <a:t>Receives graph via API</a:t>
            </a:r>
            <a:endParaRPr lang="en-US" sz="1300" dirty="0"/>
          </a:p>
        </p:txBody>
      </p:sp>
      <p:sp>
        <p:nvSpPr>
          <p:cNvPr id="12" name="Shape 8"/>
          <p:cNvSpPr/>
          <p:nvPr/>
        </p:nvSpPr>
        <p:spPr>
          <a:xfrm>
            <a:off x="3543300" y="2148840"/>
            <a:ext cx="342900" cy="0"/>
          </a:xfrm>
          <a:prstGeom prst="line">
            <a:avLst/>
          </a:prstGeom>
          <a:noFill/>
          <a:ln w="25400">
            <a:solidFill>
              <a:srgbClr val="1E6FE0"/>
            </a:solidFill>
            <a:prstDash val="solid"/>
            <a:tailEnd type="triangle"/>
          </a:ln>
        </p:spPr>
      </p:sp>
      <p:sp>
        <p:nvSpPr>
          <p:cNvPr id="13" name="Shape 9"/>
          <p:cNvSpPr/>
          <p:nvPr/>
        </p:nvSpPr>
        <p:spPr>
          <a:xfrm>
            <a:off x="3886200" y="1234440"/>
            <a:ext cx="1371600" cy="1828800"/>
          </a:xfrm>
          <a:prstGeom prst="roundRect">
            <a:avLst>
              <a:gd name="adj" fmla="val 8000"/>
            </a:avLst>
          </a:prstGeom>
          <a:solidFill>
            <a:srgbClr val="0B1F4B"/>
          </a:solidFill>
          <a:ln w="12700">
            <a:solidFill>
              <a:srgbClr val="0B1F4B"/>
            </a:solidFill>
            <a:prstDash val="solid"/>
          </a:ln>
          <a:effectLst>
            <a:outerShdw blurRad="76200" dist="25400" dir="5400000" algn="bl" rotWithShape="0">
              <a:srgbClr val="000000">
                <a:alpha val="12000"/>
              </a:srgbClr>
            </a:outerShdw>
          </a:effectLst>
        </p:spPr>
      </p:sp>
      <p:sp>
        <p:nvSpPr>
          <p:cNvPr id="14" name="Shape 10"/>
          <p:cNvSpPr/>
          <p:nvPr/>
        </p:nvSpPr>
        <p:spPr>
          <a:xfrm>
            <a:off x="4320540" y="1412748"/>
            <a:ext cx="502920" cy="502920"/>
          </a:xfrm>
          <a:prstGeom prst="ellipse">
            <a:avLst/>
          </a:prstGeom>
          <a:solidFill>
            <a:srgbClr val="4DA3FF"/>
          </a:solidFill>
          <a:ln w="12700">
            <a:solidFill>
              <a:srgbClr val="4DA3FF"/>
            </a:solidFill>
            <a:prstDash val="solid"/>
          </a:ln>
        </p:spPr>
      </p:sp>
      <p:pic>
        <p:nvPicPr>
          <p:cNvPr id="15" name="Image 2" descr="preencoded.png"/>
          <p:cNvPicPr>
            <a:picLocks noChangeAspect="1"/>
          </p:cNvPicPr>
          <p:nvPr/>
        </p:nvPicPr>
        <p:blipFill>
          <a:blip r:embed="rId5"/>
          <a:stretch>
            <a:fillRect/>
          </a:stretch>
        </p:blipFill>
        <p:spPr>
          <a:xfrm>
            <a:off x="4446270" y="1538478"/>
            <a:ext cx="251460" cy="251460"/>
          </a:xfrm>
          <a:prstGeom prst="rect">
            <a:avLst/>
          </a:prstGeom>
        </p:spPr>
      </p:pic>
      <p:sp>
        <p:nvSpPr>
          <p:cNvPr id="16" name="Text 11"/>
          <p:cNvSpPr txBox="1"/>
          <p:nvPr/>
        </p:nvSpPr>
        <p:spPr>
          <a:xfrm>
            <a:off x="3959352" y="2057400"/>
            <a:ext cx="1225296" cy="914400"/>
          </a:xfrm>
          <a:prstGeom prst="rect">
            <a:avLst/>
          </a:prstGeom>
          <a:noFill/>
          <a:ln/>
        </p:spPr>
        <p:txBody>
          <a:bodyPr wrap="square" lIns="0" tIns="0" rIns="0" bIns="0" rtlCol="0" anchor="t"/>
          <a:lstStyle/>
          <a:p>
            <a:pPr marL="0" indent="0" algn="ctr">
              <a:buNone/>
            </a:pPr>
            <a:r>
              <a:rPr lang="en-US" sz="1300" b="1" dirty="0">
                <a:solidFill>
                  <a:srgbClr val="FFFFFF"/>
                </a:solidFill>
              </a:rPr>
              <a:t>Kruskal +</a:t>
            </a:r>
            <a:endParaRPr lang="en-US" sz="1300" dirty="0"/>
          </a:p>
          <a:p>
            <a:pPr marL="0" indent="0" algn="ctr">
              <a:buNone/>
            </a:pPr>
            <a:r>
              <a:rPr lang="en-US" sz="1300" b="1" dirty="0">
                <a:solidFill>
                  <a:srgbClr val="FFFFFF"/>
                </a:solidFill>
              </a:rPr>
              <a:t>Union-Find</a:t>
            </a:r>
            <a:endParaRPr lang="en-US" sz="1300" dirty="0"/>
          </a:p>
          <a:p>
            <a:pPr marL="0" indent="0" algn="ctr">
              <a:buNone/>
            </a:pPr>
            <a:r>
              <a:rPr lang="en-US" sz="1100" dirty="0">
                <a:solidFill>
                  <a:srgbClr val="CADCFC"/>
                </a:solidFill>
              </a:rPr>
              <a:t>Sort edges, avoid cycles</a:t>
            </a:r>
            <a:endParaRPr lang="en-US" sz="1300" dirty="0"/>
          </a:p>
        </p:txBody>
      </p:sp>
      <p:sp>
        <p:nvSpPr>
          <p:cNvPr id="17" name="Shape 12"/>
          <p:cNvSpPr/>
          <p:nvPr/>
        </p:nvSpPr>
        <p:spPr>
          <a:xfrm>
            <a:off x="5257800" y="2148840"/>
            <a:ext cx="342900" cy="0"/>
          </a:xfrm>
          <a:prstGeom prst="line">
            <a:avLst/>
          </a:prstGeom>
          <a:noFill/>
          <a:ln w="25400">
            <a:solidFill>
              <a:srgbClr val="1E6FE0"/>
            </a:solidFill>
            <a:prstDash val="solid"/>
            <a:tailEnd type="triangle"/>
          </a:ln>
        </p:spPr>
      </p:sp>
      <p:sp>
        <p:nvSpPr>
          <p:cNvPr id="18" name="Shape 13"/>
          <p:cNvSpPr/>
          <p:nvPr/>
        </p:nvSpPr>
        <p:spPr>
          <a:xfrm>
            <a:off x="5600700" y="1234440"/>
            <a:ext cx="1371600" cy="1828800"/>
          </a:xfrm>
          <a:prstGeom prst="roundRect">
            <a:avLst>
              <a:gd name="adj" fmla="val 8000"/>
            </a:avLst>
          </a:prstGeom>
          <a:solidFill>
            <a:srgbClr val="FFFFFF"/>
          </a:solidFill>
          <a:ln w="12700">
            <a:solidFill>
              <a:srgbClr val="CBD6EA"/>
            </a:solidFill>
            <a:prstDash val="solid"/>
          </a:ln>
          <a:effectLst>
            <a:outerShdw blurRad="76200" dist="25400" dir="5400000" algn="bl" rotWithShape="0">
              <a:srgbClr val="000000">
                <a:alpha val="12000"/>
              </a:srgbClr>
            </a:outerShdw>
          </a:effectLst>
        </p:spPr>
      </p:sp>
      <p:sp>
        <p:nvSpPr>
          <p:cNvPr id="19" name="Shape 14"/>
          <p:cNvSpPr/>
          <p:nvPr/>
        </p:nvSpPr>
        <p:spPr>
          <a:xfrm>
            <a:off x="6035040" y="1412748"/>
            <a:ext cx="502920" cy="502920"/>
          </a:xfrm>
          <a:prstGeom prst="ellipse">
            <a:avLst/>
          </a:prstGeom>
          <a:solidFill>
            <a:srgbClr val="1E6FE0"/>
          </a:solidFill>
          <a:ln w="12700">
            <a:solidFill>
              <a:srgbClr val="1E6FE0"/>
            </a:solidFill>
            <a:prstDash val="solid"/>
          </a:ln>
        </p:spPr>
      </p:sp>
      <p:pic>
        <p:nvPicPr>
          <p:cNvPr id="20" name="Image 3" descr="preencoded.png"/>
          <p:cNvPicPr>
            <a:picLocks noChangeAspect="1"/>
          </p:cNvPicPr>
          <p:nvPr/>
        </p:nvPicPr>
        <p:blipFill>
          <a:blip r:embed="rId6"/>
          <a:stretch>
            <a:fillRect/>
          </a:stretch>
        </p:blipFill>
        <p:spPr>
          <a:xfrm>
            <a:off x="6160770" y="1538478"/>
            <a:ext cx="251460" cy="251460"/>
          </a:xfrm>
          <a:prstGeom prst="rect">
            <a:avLst/>
          </a:prstGeom>
        </p:spPr>
      </p:pic>
      <p:sp>
        <p:nvSpPr>
          <p:cNvPr id="21" name="Text 15"/>
          <p:cNvSpPr txBox="1"/>
          <p:nvPr/>
        </p:nvSpPr>
        <p:spPr>
          <a:xfrm>
            <a:off x="5673852" y="2057400"/>
            <a:ext cx="1225296" cy="914400"/>
          </a:xfrm>
          <a:prstGeom prst="rect">
            <a:avLst/>
          </a:prstGeom>
          <a:noFill/>
          <a:ln/>
        </p:spPr>
        <p:txBody>
          <a:bodyPr wrap="square" lIns="0" tIns="0" rIns="0" bIns="0" rtlCol="0" anchor="t"/>
          <a:lstStyle/>
          <a:p>
            <a:pPr marL="0" indent="0" algn="ctr">
              <a:buNone/>
            </a:pPr>
            <a:r>
              <a:rPr lang="en-US" sz="1300" b="1" dirty="0">
                <a:solidFill>
                  <a:srgbClr val="0B1F4B"/>
                </a:solidFill>
              </a:rPr>
              <a:t>MST Result</a:t>
            </a:r>
            <a:endParaRPr lang="en-US" sz="1300" dirty="0"/>
          </a:p>
          <a:p>
            <a:pPr marL="0" indent="0" algn="ctr">
              <a:buNone/>
            </a:pPr>
            <a:r>
              <a:rPr lang="en-US" sz="1100" dirty="0">
                <a:solidFill>
                  <a:srgbClr val="5B6B8C"/>
                </a:solidFill>
              </a:rPr>
              <a:t>Chosen edges + total cost</a:t>
            </a:r>
            <a:endParaRPr lang="en-US" sz="1300" dirty="0"/>
          </a:p>
        </p:txBody>
      </p:sp>
      <p:sp>
        <p:nvSpPr>
          <p:cNvPr id="22" name="Shape 16"/>
          <p:cNvSpPr/>
          <p:nvPr/>
        </p:nvSpPr>
        <p:spPr>
          <a:xfrm>
            <a:off x="6972300" y="2148840"/>
            <a:ext cx="342900" cy="0"/>
          </a:xfrm>
          <a:prstGeom prst="line">
            <a:avLst/>
          </a:prstGeom>
          <a:noFill/>
          <a:ln w="25400">
            <a:solidFill>
              <a:srgbClr val="1E6FE0"/>
            </a:solidFill>
            <a:prstDash val="solid"/>
            <a:tailEnd type="triangle"/>
          </a:ln>
        </p:spPr>
      </p:sp>
      <p:sp>
        <p:nvSpPr>
          <p:cNvPr id="23" name="Shape 17"/>
          <p:cNvSpPr/>
          <p:nvPr/>
        </p:nvSpPr>
        <p:spPr>
          <a:xfrm>
            <a:off x="7315200" y="1234440"/>
            <a:ext cx="1371600" cy="1828800"/>
          </a:xfrm>
          <a:prstGeom prst="roundRect">
            <a:avLst>
              <a:gd name="adj" fmla="val 8000"/>
            </a:avLst>
          </a:prstGeom>
          <a:solidFill>
            <a:srgbClr val="FFFFFF"/>
          </a:solidFill>
          <a:ln w="12700">
            <a:solidFill>
              <a:srgbClr val="CBD6EA"/>
            </a:solidFill>
            <a:prstDash val="solid"/>
          </a:ln>
          <a:effectLst>
            <a:outerShdw blurRad="76200" dist="25400" dir="5400000" algn="bl" rotWithShape="0">
              <a:srgbClr val="000000">
                <a:alpha val="12000"/>
              </a:srgbClr>
            </a:outerShdw>
          </a:effectLst>
        </p:spPr>
      </p:sp>
      <p:sp>
        <p:nvSpPr>
          <p:cNvPr id="24" name="Shape 18"/>
          <p:cNvSpPr/>
          <p:nvPr/>
        </p:nvSpPr>
        <p:spPr>
          <a:xfrm>
            <a:off x="7749540" y="1412748"/>
            <a:ext cx="502920" cy="502920"/>
          </a:xfrm>
          <a:prstGeom prst="ellipse">
            <a:avLst/>
          </a:prstGeom>
          <a:solidFill>
            <a:srgbClr val="1E6FE0"/>
          </a:solidFill>
          <a:ln w="12700">
            <a:solidFill>
              <a:srgbClr val="1E6FE0"/>
            </a:solidFill>
            <a:prstDash val="solid"/>
          </a:ln>
        </p:spPr>
      </p:sp>
      <p:pic>
        <p:nvPicPr>
          <p:cNvPr id="25" name="Image 4" descr="preencoded.png"/>
          <p:cNvPicPr>
            <a:picLocks noChangeAspect="1"/>
          </p:cNvPicPr>
          <p:nvPr/>
        </p:nvPicPr>
        <p:blipFill>
          <a:blip r:embed="rId3"/>
          <a:stretch>
            <a:fillRect/>
          </a:stretch>
        </p:blipFill>
        <p:spPr>
          <a:xfrm>
            <a:off x="7875270" y="1538478"/>
            <a:ext cx="251460" cy="251460"/>
          </a:xfrm>
          <a:prstGeom prst="rect">
            <a:avLst/>
          </a:prstGeom>
        </p:spPr>
      </p:pic>
      <p:sp>
        <p:nvSpPr>
          <p:cNvPr id="26" name="Text 19"/>
          <p:cNvSpPr txBox="1"/>
          <p:nvPr/>
        </p:nvSpPr>
        <p:spPr>
          <a:xfrm>
            <a:off x="7388352" y="2057400"/>
            <a:ext cx="1225296" cy="914400"/>
          </a:xfrm>
          <a:prstGeom prst="rect">
            <a:avLst/>
          </a:prstGeom>
          <a:noFill/>
          <a:ln/>
        </p:spPr>
        <p:txBody>
          <a:bodyPr wrap="square" lIns="0" tIns="0" rIns="0" bIns="0" rtlCol="0" anchor="t"/>
          <a:lstStyle/>
          <a:p>
            <a:pPr marL="0" indent="0" algn="ctr">
              <a:buNone/>
            </a:pPr>
            <a:r>
              <a:rPr lang="en-US" sz="1300" b="1" dirty="0">
                <a:solidFill>
                  <a:srgbClr val="0B1F4B"/>
                </a:solidFill>
              </a:rPr>
              <a:t>React.js</a:t>
            </a:r>
            <a:endParaRPr lang="en-US" sz="1300" dirty="0"/>
          </a:p>
          <a:p>
            <a:pPr marL="0" indent="0" algn="ctr">
              <a:buNone/>
            </a:pPr>
            <a:r>
              <a:rPr lang="en-US" sz="1100" dirty="0">
                <a:solidFill>
                  <a:srgbClr val="5B6B8C"/>
                </a:solidFill>
              </a:rPr>
              <a:t>Highlights MST in green</a:t>
            </a:r>
            <a:endParaRPr lang="en-US" sz="1300" dirty="0"/>
          </a:p>
        </p:txBody>
      </p:sp>
      <p:sp>
        <p:nvSpPr>
          <p:cNvPr id="27" name="Shape 20"/>
          <p:cNvSpPr/>
          <p:nvPr/>
        </p:nvSpPr>
        <p:spPr>
          <a:xfrm>
            <a:off x="457200" y="3474720"/>
            <a:ext cx="4023360" cy="1097280"/>
          </a:xfrm>
          <a:prstGeom prst="roundRect">
            <a:avLst>
              <a:gd name="adj" fmla="val 10000"/>
            </a:avLst>
          </a:prstGeom>
          <a:solidFill>
            <a:srgbClr val="F1F6FE"/>
          </a:solidFill>
          <a:ln w="12700">
            <a:solidFill>
              <a:srgbClr val="F1F6FE"/>
            </a:solidFill>
            <a:prstDash val="solid"/>
          </a:ln>
        </p:spPr>
      </p:sp>
      <p:sp>
        <p:nvSpPr>
          <p:cNvPr id="28" name="Shape 21"/>
          <p:cNvSpPr/>
          <p:nvPr/>
        </p:nvSpPr>
        <p:spPr>
          <a:xfrm>
            <a:off x="754380" y="3726180"/>
            <a:ext cx="594360" cy="594360"/>
          </a:xfrm>
          <a:prstGeom prst="ellipse">
            <a:avLst/>
          </a:prstGeom>
          <a:solidFill>
            <a:srgbClr val="1E6FE0"/>
          </a:solidFill>
          <a:ln w="12700">
            <a:solidFill>
              <a:srgbClr val="1E6FE0"/>
            </a:solidFill>
            <a:prstDash val="solid"/>
          </a:ln>
        </p:spPr>
      </p:sp>
      <p:pic>
        <p:nvPicPr>
          <p:cNvPr id="29" name="Image 5" descr="preencoded.png"/>
          <p:cNvPicPr>
            <a:picLocks noChangeAspect="1"/>
          </p:cNvPicPr>
          <p:nvPr/>
        </p:nvPicPr>
        <p:blipFill>
          <a:blip r:embed="rId3"/>
          <a:stretch>
            <a:fillRect/>
          </a:stretch>
        </p:blipFill>
        <p:spPr>
          <a:xfrm>
            <a:off x="902970" y="3874770"/>
            <a:ext cx="297180" cy="297180"/>
          </a:xfrm>
          <a:prstGeom prst="rect">
            <a:avLst/>
          </a:prstGeom>
        </p:spPr>
      </p:pic>
      <p:sp>
        <p:nvSpPr>
          <p:cNvPr id="30" name="Text 22"/>
          <p:cNvSpPr txBox="1"/>
          <p:nvPr/>
        </p:nvSpPr>
        <p:spPr>
          <a:xfrm>
            <a:off x="1508760" y="3611880"/>
            <a:ext cx="2834640" cy="320040"/>
          </a:xfrm>
          <a:prstGeom prst="rect">
            <a:avLst/>
          </a:prstGeom>
          <a:noFill/>
          <a:ln/>
        </p:spPr>
        <p:txBody>
          <a:bodyPr wrap="square" lIns="0" tIns="0" rIns="0" bIns="0" rtlCol="0" anchor="ctr"/>
          <a:lstStyle/>
          <a:p>
            <a:pPr marL="0" indent="0">
              <a:buNone/>
            </a:pPr>
            <a:r>
              <a:rPr lang="en-US" sz="1700" b="1" dirty="0">
                <a:solidFill>
                  <a:srgbClr val="0B1F4B"/>
                </a:solidFill>
              </a:rPr>
              <a:t>Frontend: React.js</a:t>
            </a:r>
            <a:endParaRPr lang="en-US" sz="1700" dirty="0"/>
          </a:p>
        </p:txBody>
      </p:sp>
      <p:sp>
        <p:nvSpPr>
          <p:cNvPr id="31" name="Text 23"/>
          <p:cNvSpPr txBox="1"/>
          <p:nvPr/>
        </p:nvSpPr>
        <p:spPr>
          <a:xfrm>
            <a:off x="1508760" y="3950208"/>
            <a:ext cx="2834640" cy="502920"/>
          </a:xfrm>
          <a:prstGeom prst="rect">
            <a:avLst/>
          </a:prstGeom>
          <a:noFill/>
          <a:ln/>
        </p:spPr>
        <p:txBody>
          <a:bodyPr wrap="square" lIns="0" tIns="0" rIns="0" bIns="0" rtlCol="0" anchor="t"/>
          <a:lstStyle/>
          <a:p>
            <a:pPr marL="0" indent="0">
              <a:buNone/>
            </a:pPr>
            <a:r>
              <a:rPr lang="en-US" sz="1300" dirty="0">
                <a:solidFill>
                  <a:srgbClr val="0B1F4B"/>
                </a:solidFill>
              </a:rPr>
              <a:t>Interactive network canvas, buttons and live visualization</a:t>
            </a:r>
            <a:endParaRPr lang="en-US" sz="1300" dirty="0"/>
          </a:p>
        </p:txBody>
      </p:sp>
      <p:sp>
        <p:nvSpPr>
          <p:cNvPr id="32" name="Shape 24"/>
          <p:cNvSpPr/>
          <p:nvPr/>
        </p:nvSpPr>
        <p:spPr>
          <a:xfrm>
            <a:off x="4663440" y="3474720"/>
            <a:ext cx="4023360" cy="1097280"/>
          </a:xfrm>
          <a:prstGeom prst="roundRect">
            <a:avLst>
              <a:gd name="adj" fmla="val 10000"/>
            </a:avLst>
          </a:prstGeom>
          <a:solidFill>
            <a:srgbClr val="F1F6FE"/>
          </a:solidFill>
          <a:ln w="12700">
            <a:solidFill>
              <a:srgbClr val="F1F6FE"/>
            </a:solidFill>
            <a:prstDash val="solid"/>
          </a:ln>
        </p:spPr>
      </p:sp>
      <p:sp>
        <p:nvSpPr>
          <p:cNvPr id="33" name="Shape 25"/>
          <p:cNvSpPr/>
          <p:nvPr/>
        </p:nvSpPr>
        <p:spPr>
          <a:xfrm>
            <a:off x="4960620" y="3726180"/>
            <a:ext cx="594360" cy="594360"/>
          </a:xfrm>
          <a:prstGeom prst="ellipse">
            <a:avLst/>
          </a:prstGeom>
          <a:solidFill>
            <a:srgbClr val="1E6FE0"/>
          </a:solidFill>
          <a:ln w="12700">
            <a:solidFill>
              <a:srgbClr val="1E6FE0"/>
            </a:solidFill>
            <a:prstDash val="solid"/>
          </a:ln>
        </p:spPr>
      </p:sp>
      <p:pic>
        <p:nvPicPr>
          <p:cNvPr id="34" name="Image 6" descr="preencoded.png"/>
          <p:cNvPicPr>
            <a:picLocks noChangeAspect="1"/>
          </p:cNvPicPr>
          <p:nvPr/>
        </p:nvPicPr>
        <p:blipFill>
          <a:blip r:embed="rId4"/>
          <a:stretch>
            <a:fillRect/>
          </a:stretch>
        </p:blipFill>
        <p:spPr>
          <a:xfrm>
            <a:off x="5109210" y="3874770"/>
            <a:ext cx="297180" cy="297180"/>
          </a:xfrm>
          <a:prstGeom prst="rect">
            <a:avLst/>
          </a:prstGeom>
        </p:spPr>
      </p:pic>
      <p:sp>
        <p:nvSpPr>
          <p:cNvPr id="35" name="Text 26"/>
          <p:cNvSpPr txBox="1"/>
          <p:nvPr/>
        </p:nvSpPr>
        <p:spPr>
          <a:xfrm>
            <a:off x="5715000" y="3611880"/>
            <a:ext cx="2834640" cy="320040"/>
          </a:xfrm>
          <a:prstGeom prst="rect">
            <a:avLst/>
          </a:prstGeom>
          <a:noFill/>
          <a:ln/>
        </p:spPr>
        <p:txBody>
          <a:bodyPr wrap="square" lIns="0" tIns="0" rIns="0" bIns="0" rtlCol="0" anchor="ctr"/>
          <a:lstStyle/>
          <a:p>
            <a:pPr marL="0" indent="0">
              <a:buNone/>
            </a:pPr>
            <a:r>
              <a:rPr lang="en-US" sz="1700" b="1" dirty="0">
                <a:solidFill>
                  <a:srgbClr val="0B1F4B"/>
                </a:solidFill>
              </a:rPr>
              <a:t>Backend: Python</a:t>
            </a:r>
            <a:endParaRPr lang="en-US" sz="1700" dirty="0"/>
          </a:p>
        </p:txBody>
      </p:sp>
      <p:sp>
        <p:nvSpPr>
          <p:cNvPr id="36" name="Text 27"/>
          <p:cNvSpPr txBox="1"/>
          <p:nvPr/>
        </p:nvSpPr>
        <p:spPr>
          <a:xfrm>
            <a:off x="5715000" y="3950208"/>
            <a:ext cx="2834640" cy="502920"/>
          </a:xfrm>
          <a:prstGeom prst="rect">
            <a:avLst/>
          </a:prstGeom>
          <a:noFill/>
          <a:ln/>
        </p:spPr>
        <p:txBody>
          <a:bodyPr wrap="square" lIns="0" tIns="0" rIns="0" bIns="0" rtlCol="0" anchor="t"/>
          <a:lstStyle/>
          <a:p>
            <a:pPr marL="0" indent="0">
              <a:buNone/>
            </a:pPr>
            <a:r>
              <a:rPr lang="en-US" sz="1300" dirty="0">
                <a:solidFill>
                  <a:srgbClr val="0B1F4B"/>
                </a:solidFill>
              </a:rPr>
              <a:t>API that runs Kruskal’s Algorithm with Union-Find</a:t>
            </a:r>
            <a:endParaRPr lang="en-US" sz="1300" dirty="0"/>
          </a:p>
        </p:txBody>
      </p:sp>
      <p:sp>
        <p:nvSpPr>
          <p:cNvPr id="37"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BA8"/>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rgbClr val="0B1F4B"/>
                </a:solidFill>
              </a:rPr>
              <a:t>How the Algorithm Works</a:t>
            </a:r>
            <a:endParaRPr lang="en-US" sz="3400" dirty="0"/>
          </a:p>
        </p:txBody>
      </p:sp>
      <p:sp>
        <p:nvSpPr>
          <p:cNvPr id="3" name="Shape 1"/>
          <p:cNvSpPr/>
          <p:nvPr/>
        </p:nvSpPr>
        <p:spPr>
          <a:xfrm>
            <a:off x="457200" y="1325880"/>
            <a:ext cx="1645920" cy="1005840"/>
          </a:xfrm>
          <a:prstGeom prst="roundRect">
            <a:avLst>
              <a:gd name="adj" fmla="val 10909"/>
            </a:avLst>
          </a:prstGeom>
          <a:solidFill>
            <a:srgbClr val="0B1F4B"/>
          </a:solidFill>
          <a:ln w="12700">
            <a:solidFill>
              <a:srgbClr val="0B1F4B"/>
            </a:solidFill>
            <a:prstDash val="solid"/>
          </a:ln>
        </p:spPr>
      </p:sp>
      <p:sp>
        <p:nvSpPr>
          <p:cNvPr id="4" name="Text 2"/>
          <p:cNvSpPr txBox="1"/>
          <p:nvPr/>
        </p:nvSpPr>
        <p:spPr>
          <a:xfrm>
            <a:off x="548640" y="1325880"/>
            <a:ext cx="1463040" cy="1005840"/>
          </a:xfrm>
          <a:prstGeom prst="rect">
            <a:avLst/>
          </a:prstGeom>
          <a:noFill/>
          <a:ln/>
        </p:spPr>
        <p:txBody>
          <a:bodyPr wrap="square" lIns="0" tIns="0" rIns="0" bIns="0" rtlCol="0" anchor="ctr"/>
          <a:lstStyle/>
          <a:p>
            <a:pPr marL="0" indent="0" algn="ctr">
              <a:buNone/>
            </a:pPr>
            <a:r>
              <a:rPr lang="en-US" sz="1400" b="1" dirty="0">
                <a:solidFill>
                  <a:srgbClr val="FFFFFF"/>
                </a:solidFill>
              </a:rPr>
              <a:t>Sort edges by cost</a:t>
            </a:r>
            <a:endParaRPr lang="en-US" sz="1400" dirty="0"/>
          </a:p>
        </p:txBody>
      </p:sp>
      <p:sp>
        <p:nvSpPr>
          <p:cNvPr id="5" name="Text 3"/>
          <p:cNvSpPr/>
          <p:nvPr/>
        </p:nvSpPr>
        <p:spPr>
          <a:xfrm>
            <a:off x="347472" y="1216152"/>
            <a:ext cx="292608" cy="292608"/>
          </a:xfrm>
          <a:prstGeom prst="ellipse">
            <a:avLst/>
          </a:prstGeom>
          <a:solidFill>
            <a:srgbClr val="4DA3FF"/>
          </a:solidFill>
          <a:ln w="19050">
            <a:solidFill>
              <a:srgbClr val="FFFFFF"/>
            </a:solidFill>
          </a:ln>
        </p:spPr>
        <p:txBody>
          <a:bodyPr wrap="square" lIns="0" tIns="0" rIns="0" bIns="0" rtlCol="0" anchor="ctr"/>
          <a:lstStyle/>
          <a:p>
            <a:pPr marL="0" indent="0" algn="ctr">
              <a:buNone/>
            </a:pPr>
            <a:r>
              <a:rPr lang="en-US" sz="1100" b="1" dirty="0">
                <a:solidFill>
                  <a:srgbClr val="0B1F4B"/>
                </a:solidFill>
              </a:rPr>
              <a:t>1</a:t>
            </a:r>
            <a:endParaRPr lang="en-US" sz="1100" dirty="0"/>
          </a:p>
        </p:txBody>
      </p:sp>
      <p:sp>
        <p:nvSpPr>
          <p:cNvPr id="6" name="Shape 4"/>
          <p:cNvSpPr/>
          <p:nvPr/>
        </p:nvSpPr>
        <p:spPr>
          <a:xfrm>
            <a:off x="2651760" y="1325880"/>
            <a:ext cx="1645920" cy="1005840"/>
          </a:xfrm>
          <a:prstGeom prst="roundRect">
            <a:avLst>
              <a:gd name="adj" fmla="val 10909"/>
            </a:avLst>
          </a:prstGeom>
          <a:solidFill>
            <a:srgbClr val="0B1F4B"/>
          </a:solidFill>
          <a:ln w="12700">
            <a:solidFill>
              <a:srgbClr val="0B1F4B"/>
            </a:solidFill>
            <a:prstDash val="solid"/>
          </a:ln>
        </p:spPr>
      </p:sp>
      <p:sp>
        <p:nvSpPr>
          <p:cNvPr id="7" name="Text 5"/>
          <p:cNvSpPr txBox="1"/>
          <p:nvPr/>
        </p:nvSpPr>
        <p:spPr>
          <a:xfrm>
            <a:off x="2743200" y="1325880"/>
            <a:ext cx="1463040" cy="1005840"/>
          </a:xfrm>
          <a:prstGeom prst="rect">
            <a:avLst/>
          </a:prstGeom>
          <a:noFill/>
          <a:ln/>
        </p:spPr>
        <p:txBody>
          <a:bodyPr wrap="square" lIns="0" tIns="0" rIns="0" bIns="0" rtlCol="0" anchor="ctr"/>
          <a:lstStyle/>
          <a:p>
            <a:pPr marL="0" indent="0" algn="ctr">
              <a:buNone/>
            </a:pPr>
            <a:r>
              <a:rPr lang="en-US" sz="1400" b="1" dirty="0">
                <a:solidFill>
                  <a:srgbClr val="FFFFFF"/>
                </a:solidFill>
              </a:rPr>
              <a:t>Pick the cheapest edge</a:t>
            </a:r>
            <a:endParaRPr lang="en-US" sz="1400" dirty="0"/>
          </a:p>
        </p:txBody>
      </p:sp>
      <p:sp>
        <p:nvSpPr>
          <p:cNvPr id="8" name="Text 6"/>
          <p:cNvSpPr/>
          <p:nvPr/>
        </p:nvSpPr>
        <p:spPr>
          <a:xfrm>
            <a:off x="2542032" y="1216152"/>
            <a:ext cx="292608" cy="292608"/>
          </a:xfrm>
          <a:prstGeom prst="ellipse">
            <a:avLst/>
          </a:prstGeom>
          <a:solidFill>
            <a:srgbClr val="4DA3FF"/>
          </a:solidFill>
          <a:ln w="19050">
            <a:solidFill>
              <a:srgbClr val="FFFFFF"/>
            </a:solidFill>
          </a:ln>
        </p:spPr>
        <p:txBody>
          <a:bodyPr wrap="square" lIns="0" tIns="0" rIns="0" bIns="0" rtlCol="0" anchor="ctr"/>
          <a:lstStyle/>
          <a:p>
            <a:pPr marL="0" indent="0" algn="ctr">
              <a:buNone/>
            </a:pPr>
            <a:r>
              <a:rPr lang="en-US" sz="1100" b="1" dirty="0">
                <a:solidFill>
                  <a:srgbClr val="0B1F4B"/>
                </a:solidFill>
              </a:rPr>
              <a:t>2</a:t>
            </a:r>
            <a:endParaRPr lang="en-US" sz="1100" dirty="0"/>
          </a:p>
        </p:txBody>
      </p:sp>
      <p:sp>
        <p:nvSpPr>
          <p:cNvPr id="9" name="Text 7"/>
          <p:cNvSpPr/>
          <p:nvPr/>
        </p:nvSpPr>
        <p:spPr>
          <a:xfrm>
            <a:off x="4846320" y="1188720"/>
            <a:ext cx="1645920" cy="1280160"/>
          </a:xfrm>
          <a:prstGeom prst="diamond">
            <a:avLst/>
          </a:prstGeom>
          <a:solidFill>
            <a:srgbClr val="1E6FE0"/>
          </a:solidFill>
          <a:ln>
            <a:solidFill>
              <a:srgbClr val="1E6FE0"/>
            </a:solidFill>
          </a:ln>
        </p:spPr>
        <p:txBody>
          <a:bodyPr wrap="square" lIns="0" tIns="0" rIns="0" bIns="0" rtlCol="0" anchor="ctr"/>
          <a:lstStyle/>
          <a:p>
            <a:pPr marL="0" indent="0" algn="ctr">
              <a:buNone/>
            </a:pPr>
            <a:r>
              <a:rPr lang="en-US" sz="1200" b="1" dirty="0">
                <a:solidFill>
                  <a:srgbClr val="FFFFFF"/>
                </a:solidFill>
              </a:rPr>
              <a:t>Forms cycle?</a:t>
            </a:r>
            <a:endParaRPr lang="en-US" sz="1200" dirty="0"/>
          </a:p>
        </p:txBody>
      </p:sp>
      <p:sp>
        <p:nvSpPr>
          <p:cNvPr id="10" name="Text 8"/>
          <p:cNvSpPr/>
          <p:nvPr/>
        </p:nvSpPr>
        <p:spPr>
          <a:xfrm>
            <a:off x="4754880" y="1097280"/>
            <a:ext cx="292608" cy="292608"/>
          </a:xfrm>
          <a:prstGeom prst="ellipse">
            <a:avLst/>
          </a:prstGeom>
          <a:solidFill>
            <a:srgbClr val="4DA3FF"/>
          </a:solidFill>
          <a:ln w="19050">
            <a:solidFill>
              <a:srgbClr val="FFFFFF"/>
            </a:solidFill>
          </a:ln>
        </p:spPr>
        <p:txBody>
          <a:bodyPr wrap="square" lIns="0" tIns="0" rIns="0" bIns="0" rtlCol="0" anchor="ctr"/>
          <a:lstStyle/>
          <a:p>
            <a:pPr marL="0" indent="0" algn="ctr">
              <a:buNone/>
            </a:pPr>
            <a:r>
              <a:rPr lang="en-US" sz="1100" b="1" dirty="0">
                <a:solidFill>
                  <a:srgbClr val="0B1F4B"/>
                </a:solidFill>
              </a:rPr>
              <a:t>3</a:t>
            </a:r>
            <a:endParaRPr lang="en-US" sz="1100" dirty="0"/>
          </a:p>
        </p:txBody>
      </p:sp>
      <p:sp>
        <p:nvSpPr>
          <p:cNvPr id="11" name="Shape 9"/>
          <p:cNvSpPr/>
          <p:nvPr/>
        </p:nvSpPr>
        <p:spPr>
          <a:xfrm>
            <a:off x="7040880" y="1325880"/>
            <a:ext cx="1645920" cy="1005840"/>
          </a:xfrm>
          <a:prstGeom prst="roundRect">
            <a:avLst>
              <a:gd name="adj" fmla="val 10909"/>
            </a:avLst>
          </a:prstGeom>
          <a:solidFill>
            <a:srgbClr val="22A66B"/>
          </a:solidFill>
          <a:ln w="12700">
            <a:solidFill>
              <a:srgbClr val="22A66B"/>
            </a:solidFill>
            <a:prstDash val="solid"/>
          </a:ln>
        </p:spPr>
      </p:sp>
      <p:sp>
        <p:nvSpPr>
          <p:cNvPr id="12" name="Text 10"/>
          <p:cNvSpPr txBox="1"/>
          <p:nvPr/>
        </p:nvSpPr>
        <p:spPr>
          <a:xfrm>
            <a:off x="7132320" y="1325880"/>
            <a:ext cx="1463040" cy="1005840"/>
          </a:xfrm>
          <a:prstGeom prst="rect">
            <a:avLst/>
          </a:prstGeom>
          <a:noFill/>
          <a:ln/>
        </p:spPr>
        <p:txBody>
          <a:bodyPr wrap="square" lIns="0" tIns="0" rIns="0" bIns="0" rtlCol="0" anchor="ctr"/>
          <a:lstStyle/>
          <a:p>
            <a:pPr marL="0" indent="0" algn="ctr">
              <a:buNone/>
            </a:pPr>
            <a:r>
              <a:rPr lang="en-US" sz="1400" b="1" dirty="0">
                <a:solidFill>
                  <a:srgbClr val="FFFFFF"/>
                </a:solidFill>
              </a:rPr>
              <a:t>Add edge to the MST</a:t>
            </a:r>
            <a:endParaRPr lang="en-US" sz="1400" dirty="0"/>
          </a:p>
        </p:txBody>
      </p:sp>
      <p:sp>
        <p:nvSpPr>
          <p:cNvPr id="13" name="Text 11"/>
          <p:cNvSpPr/>
          <p:nvPr/>
        </p:nvSpPr>
        <p:spPr>
          <a:xfrm>
            <a:off x="6931152" y="1216152"/>
            <a:ext cx="292608" cy="292608"/>
          </a:xfrm>
          <a:prstGeom prst="ellipse">
            <a:avLst/>
          </a:prstGeom>
          <a:solidFill>
            <a:srgbClr val="4DA3FF"/>
          </a:solidFill>
          <a:ln w="19050">
            <a:solidFill>
              <a:srgbClr val="FFFFFF"/>
            </a:solidFill>
          </a:ln>
        </p:spPr>
        <p:txBody>
          <a:bodyPr wrap="square" lIns="0" tIns="0" rIns="0" bIns="0" rtlCol="0" anchor="ctr"/>
          <a:lstStyle/>
          <a:p>
            <a:pPr marL="0" indent="0" algn="ctr">
              <a:buNone/>
            </a:pPr>
            <a:r>
              <a:rPr lang="en-US" sz="1100" b="1" dirty="0">
                <a:solidFill>
                  <a:srgbClr val="0B1F4B"/>
                </a:solidFill>
              </a:rPr>
              <a:t>4</a:t>
            </a:r>
            <a:endParaRPr lang="en-US" sz="1100" dirty="0"/>
          </a:p>
        </p:txBody>
      </p:sp>
      <p:sp>
        <p:nvSpPr>
          <p:cNvPr id="14" name="Shape 12"/>
          <p:cNvSpPr/>
          <p:nvPr/>
        </p:nvSpPr>
        <p:spPr>
          <a:xfrm>
            <a:off x="2103120" y="1828800"/>
            <a:ext cx="548640" cy="0"/>
          </a:xfrm>
          <a:prstGeom prst="line">
            <a:avLst/>
          </a:prstGeom>
          <a:noFill/>
          <a:ln w="25400">
            <a:solidFill>
              <a:srgbClr val="1E6FE0"/>
            </a:solidFill>
            <a:prstDash val="solid"/>
            <a:tailEnd type="triangle"/>
          </a:ln>
        </p:spPr>
      </p:sp>
      <p:sp>
        <p:nvSpPr>
          <p:cNvPr id="15" name="Shape 13"/>
          <p:cNvSpPr/>
          <p:nvPr/>
        </p:nvSpPr>
        <p:spPr>
          <a:xfrm>
            <a:off x="4297680" y="1828800"/>
            <a:ext cx="548640" cy="0"/>
          </a:xfrm>
          <a:prstGeom prst="line">
            <a:avLst/>
          </a:prstGeom>
          <a:noFill/>
          <a:ln w="25400">
            <a:solidFill>
              <a:srgbClr val="1E6FE0"/>
            </a:solidFill>
            <a:prstDash val="solid"/>
            <a:tailEnd type="triangle"/>
          </a:ln>
        </p:spPr>
      </p:sp>
      <p:sp>
        <p:nvSpPr>
          <p:cNvPr id="16" name="Shape 14"/>
          <p:cNvSpPr/>
          <p:nvPr/>
        </p:nvSpPr>
        <p:spPr>
          <a:xfrm>
            <a:off x="6492240" y="1828800"/>
            <a:ext cx="548640" cy="0"/>
          </a:xfrm>
          <a:prstGeom prst="line">
            <a:avLst/>
          </a:prstGeom>
          <a:noFill/>
          <a:ln w="25400">
            <a:solidFill>
              <a:srgbClr val="22A66B"/>
            </a:solidFill>
            <a:prstDash val="solid"/>
            <a:tailEnd type="triangle"/>
          </a:ln>
        </p:spPr>
      </p:sp>
      <p:sp>
        <p:nvSpPr>
          <p:cNvPr id="17" name="Text 15"/>
          <p:cNvSpPr txBox="1"/>
          <p:nvPr/>
        </p:nvSpPr>
        <p:spPr>
          <a:xfrm>
            <a:off x="6492240" y="1508760"/>
            <a:ext cx="548640" cy="228600"/>
          </a:xfrm>
          <a:prstGeom prst="rect">
            <a:avLst/>
          </a:prstGeom>
          <a:noFill/>
          <a:ln/>
        </p:spPr>
        <p:txBody>
          <a:bodyPr wrap="square" lIns="0" tIns="0" rIns="0" bIns="0" rtlCol="0" anchor="ctr"/>
          <a:lstStyle/>
          <a:p>
            <a:pPr marL="0" indent="0" algn="ctr">
              <a:buNone/>
            </a:pPr>
            <a:r>
              <a:rPr lang="en-US" sz="1100" b="1" dirty="0">
                <a:solidFill>
                  <a:srgbClr val="22A66B"/>
                </a:solidFill>
              </a:rPr>
              <a:t>No</a:t>
            </a:r>
            <a:endParaRPr lang="en-US" sz="1100" dirty="0"/>
          </a:p>
        </p:txBody>
      </p:sp>
      <p:sp>
        <p:nvSpPr>
          <p:cNvPr id="18" name="Shape 16"/>
          <p:cNvSpPr/>
          <p:nvPr/>
        </p:nvSpPr>
        <p:spPr>
          <a:xfrm>
            <a:off x="5669280" y="2468880"/>
            <a:ext cx="0" cy="685800"/>
          </a:xfrm>
          <a:prstGeom prst="line">
            <a:avLst/>
          </a:prstGeom>
          <a:noFill/>
          <a:ln w="25400">
            <a:solidFill>
              <a:srgbClr val="E0533D"/>
            </a:solidFill>
            <a:prstDash val="solid"/>
            <a:tailEnd type="triangle"/>
          </a:ln>
        </p:spPr>
      </p:sp>
      <p:sp>
        <p:nvSpPr>
          <p:cNvPr id="19" name="Text 17"/>
          <p:cNvSpPr txBox="1"/>
          <p:nvPr/>
        </p:nvSpPr>
        <p:spPr>
          <a:xfrm>
            <a:off x="5760720" y="2651760"/>
            <a:ext cx="457200" cy="228600"/>
          </a:xfrm>
          <a:prstGeom prst="rect">
            <a:avLst/>
          </a:prstGeom>
          <a:noFill/>
          <a:ln/>
        </p:spPr>
        <p:txBody>
          <a:bodyPr wrap="square" lIns="0" tIns="0" rIns="0" bIns="0" rtlCol="0" anchor="ctr"/>
          <a:lstStyle/>
          <a:p>
            <a:pPr marL="0" indent="0">
              <a:buNone/>
            </a:pPr>
            <a:r>
              <a:rPr lang="en-US" sz="1100" b="1" dirty="0">
                <a:solidFill>
                  <a:srgbClr val="E0533D"/>
                </a:solidFill>
              </a:rPr>
              <a:t>Yes</a:t>
            </a:r>
            <a:endParaRPr lang="en-US" sz="1100" dirty="0"/>
          </a:p>
        </p:txBody>
      </p:sp>
      <p:sp>
        <p:nvSpPr>
          <p:cNvPr id="20" name="Shape 18"/>
          <p:cNvSpPr/>
          <p:nvPr/>
        </p:nvSpPr>
        <p:spPr>
          <a:xfrm>
            <a:off x="4846320" y="3154680"/>
            <a:ext cx="1645920" cy="731520"/>
          </a:xfrm>
          <a:prstGeom prst="roundRect">
            <a:avLst>
              <a:gd name="adj" fmla="val 15000"/>
            </a:avLst>
          </a:prstGeom>
          <a:solidFill>
            <a:srgbClr val="FFFFFF"/>
          </a:solidFill>
          <a:ln w="12700">
            <a:solidFill>
              <a:srgbClr val="FFFFFF"/>
            </a:solidFill>
            <a:prstDash val="solid"/>
          </a:ln>
        </p:spPr>
      </p:sp>
      <p:sp>
        <p:nvSpPr>
          <p:cNvPr id="21" name="Text 19"/>
          <p:cNvSpPr txBox="1"/>
          <p:nvPr/>
        </p:nvSpPr>
        <p:spPr>
          <a:xfrm>
            <a:off x="4937760" y="3154680"/>
            <a:ext cx="1463040" cy="731520"/>
          </a:xfrm>
          <a:prstGeom prst="rect">
            <a:avLst/>
          </a:prstGeom>
          <a:noFill/>
          <a:ln/>
        </p:spPr>
        <p:txBody>
          <a:bodyPr wrap="square" lIns="0" tIns="0" rIns="0" bIns="0" rtlCol="0" anchor="ctr"/>
          <a:lstStyle/>
          <a:p>
            <a:pPr marL="0" indent="0" algn="ctr">
              <a:buNone/>
            </a:pPr>
            <a:r>
              <a:rPr lang="en-US" sz="1400" b="1" dirty="0">
                <a:solidFill>
                  <a:srgbClr val="E0533D"/>
                </a:solidFill>
              </a:rPr>
              <a:t>Skip the edge</a:t>
            </a:r>
            <a:endParaRPr lang="en-US" sz="1400" dirty="0"/>
          </a:p>
        </p:txBody>
      </p:sp>
      <p:sp>
        <p:nvSpPr>
          <p:cNvPr id="22" name="Shape 20"/>
          <p:cNvSpPr/>
          <p:nvPr/>
        </p:nvSpPr>
        <p:spPr>
          <a:xfrm>
            <a:off x="4846320" y="3154680"/>
            <a:ext cx="1645920" cy="731520"/>
          </a:xfrm>
          <a:prstGeom prst="roundRect">
            <a:avLst>
              <a:gd name="adj" fmla="val 15000"/>
            </a:avLst>
          </a:prstGeom>
          <a:solidFill>
            <a:srgbClr val="FFFFFF">
              <a:alpha val="0"/>
            </a:srgbClr>
          </a:solidFill>
          <a:ln w="19050">
            <a:solidFill>
              <a:srgbClr val="E0533D"/>
            </a:solidFill>
            <a:prstDash val="solid"/>
          </a:ln>
        </p:spPr>
      </p:sp>
      <p:sp>
        <p:nvSpPr>
          <p:cNvPr id="23" name="Shape 21"/>
          <p:cNvSpPr/>
          <p:nvPr/>
        </p:nvSpPr>
        <p:spPr>
          <a:xfrm>
            <a:off x="7863840" y="2331720"/>
            <a:ext cx="0" cy="822960"/>
          </a:xfrm>
          <a:prstGeom prst="line">
            <a:avLst/>
          </a:prstGeom>
          <a:noFill/>
          <a:ln w="25400">
            <a:solidFill>
              <a:srgbClr val="1E6FE0"/>
            </a:solidFill>
            <a:prstDash val="solid"/>
            <a:tailEnd type="triangle"/>
          </a:ln>
        </p:spPr>
      </p:sp>
      <p:sp>
        <p:nvSpPr>
          <p:cNvPr id="24" name="Shape 22"/>
          <p:cNvSpPr/>
          <p:nvPr/>
        </p:nvSpPr>
        <p:spPr>
          <a:xfrm>
            <a:off x="6492240" y="3520440"/>
            <a:ext cx="548640" cy="0"/>
          </a:xfrm>
          <a:prstGeom prst="line">
            <a:avLst/>
          </a:prstGeom>
          <a:noFill/>
          <a:ln w="25400">
            <a:solidFill>
              <a:srgbClr val="E0533D"/>
            </a:solidFill>
            <a:prstDash val="solid"/>
            <a:tailEnd type="triangle"/>
          </a:ln>
        </p:spPr>
      </p:sp>
      <p:sp>
        <p:nvSpPr>
          <p:cNvPr id="25" name="Shape 23"/>
          <p:cNvSpPr/>
          <p:nvPr/>
        </p:nvSpPr>
        <p:spPr>
          <a:xfrm>
            <a:off x="7040880" y="3154680"/>
            <a:ext cx="1645920" cy="731520"/>
          </a:xfrm>
          <a:prstGeom prst="roundRect">
            <a:avLst>
              <a:gd name="adj" fmla="val 15000"/>
            </a:avLst>
          </a:prstGeom>
          <a:solidFill>
            <a:srgbClr val="1E6FE0"/>
          </a:solidFill>
          <a:ln w="12700">
            <a:solidFill>
              <a:srgbClr val="1E6FE0"/>
            </a:solidFill>
            <a:prstDash val="solid"/>
          </a:ln>
        </p:spPr>
      </p:sp>
      <p:sp>
        <p:nvSpPr>
          <p:cNvPr id="26" name="Text 24"/>
          <p:cNvSpPr txBox="1"/>
          <p:nvPr/>
        </p:nvSpPr>
        <p:spPr>
          <a:xfrm>
            <a:off x="7132320" y="3154680"/>
            <a:ext cx="1463040" cy="731520"/>
          </a:xfrm>
          <a:prstGeom prst="rect">
            <a:avLst/>
          </a:prstGeom>
          <a:noFill/>
          <a:ln/>
        </p:spPr>
        <p:txBody>
          <a:bodyPr wrap="square" lIns="0" tIns="0" rIns="0" bIns="0" rtlCol="0" anchor="ctr"/>
          <a:lstStyle/>
          <a:p>
            <a:pPr marL="0" indent="0" algn="ctr">
              <a:buNone/>
            </a:pPr>
            <a:r>
              <a:rPr lang="en-US" sz="1400" b="1" dirty="0">
                <a:solidFill>
                  <a:srgbClr val="FFFFFF"/>
                </a:solidFill>
              </a:rPr>
              <a:t>Repeat until V − 1 edges</a:t>
            </a:r>
            <a:endParaRPr lang="en-US" sz="1400" dirty="0"/>
          </a:p>
        </p:txBody>
      </p:sp>
      <p:sp>
        <p:nvSpPr>
          <p:cNvPr id="27" name="Text 25"/>
          <p:cNvSpPr/>
          <p:nvPr/>
        </p:nvSpPr>
        <p:spPr>
          <a:xfrm>
            <a:off x="6931152" y="3044952"/>
            <a:ext cx="292608" cy="292608"/>
          </a:xfrm>
          <a:prstGeom prst="ellipse">
            <a:avLst/>
          </a:prstGeom>
          <a:solidFill>
            <a:srgbClr val="4DA3FF"/>
          </a:solidFill>
          <a:ln w="19050">
            <a:solidFill>
              <a:srgbClr val="FFFFFF"/>
            </a:solidFill>
          </a:ln>
        </p:spPr>
        <p:txBody>
          <a:bodyPr wrap="square" lIns="0" tIns="0" rIns="0" bIns="0" rtlCol="0" anchor="ctr"/>
          <a:lstStyle/>
          <a:p>
            <a:pPr marL="0" indent="0" algn="ctr">
              <a:buNone/>
            </a:pPr>
            <a:r>
              <a:rPr lang="en-US" sz="1100" b="1" dirty="0">
                <a:solidFill>
                  <a:srgbClr val="0B1F4B"/>
                </a:solidFill>
              </a:rPr>
              <a:t>5</a:t>
            </a:r>
            <a:endParaRPr lang="en-US" sz="1100" dirty="0"/>
          </a:p>
        </p:txBody>
      </p:sp>
      <p:sp>
        <p:nvSpPr>
          <p:cNvPr id="28" name="Shape 26"/>
          <p:cNvSpPr/>
          <p:nvPr/>
        </p:nvSpPr>
        <p:spPr>
          <a:xfrm>
            <a:off x="457200" y="2926080"/>
            <a:ext cx="4023360" cy="1645920"/>
          </a:xfrm>
          <a:prstGeom prst="roundRect">
            <a:avLst>
              <a:gd name="adj" fmla="val 6667"/>
            </a:avLst>
          </a:prstGeom>
          <a:solidFill>
            <a:srgbClr val="F1F6FE"/>
          </a:solidFill>
          <a:ln w="12700">
            <a:solidFill>
              <a:srgbClr val="F1F6FE"/>
            </a:solidFill>
            <a:prstDash val="solid"/>
          </a:ln>
        </p:spPr>
      </p:sp>
      <p:sp>
        <p:nvSpPr>
          <p:cNvPr id="29" name="Text 27"/>
          <p:cNvSpPr txBox="1"/>
          <p:nvPr/>
        </p:nvSpPr>
        <p:spPr>
          <a:xfrm>
            <a:off x="685800" y="3017520"/>
            <a:ext cx="3566160" cy="320040"/>
          </a:xfrm>
          <a:prstGeom prst="rect">
            <a:avLst/>
          </a:prstGeom>
          <a:noFill/>
          <a:ln/>
        </p:spPr>
        <p:txBody>
          <a:bodyPr wrap="square" lIns="0" tIns="0" rIns="0" bIns="0" rtlCol="0" anchor="ctr"/>
          <a:lstStyle/>
          <a:p>
            <a:pPr marL="0" indent="0">
              <a:buNone/>
            </a:pPr>
            <a:r>
              <a:rPr lang="en-US" sz="1500" b="1" dirty="0">
                <a:solidFill>
                  <a:srgbClr val="0B1F4B"/>
                </a:solidFill>
              </a:rPr>
              <a:t>Example run</a:t>
            </a:r>
            <a:endParaRPr lang="en-US" sz="1500" dirty="0"/>
          </a:p>
        </p:txBody>
      </p:sp>
      <p:sp>
        <p:nvSpPr>
          <p:cNvPr id="30" name="Text 28"/>
          <p:cNvSpPr txBox="1"/>
          <p:nvPr/>
        </p:nvSpPr>
        <p:spPr>
          <a:xfrm>
            <a:off x="685800" y="3383280"/>
            <a:ext cx="3566160" cy="1097280"/>
          </a:xfrm>
          <a:prstGeom prst="rect">
            <a:avLst/>
          </a:prstGeom>
          <a:noFill/>
          <a:ln/>
        </p:spPr>
        <p:txBody>
          <a:bodyPr wrap="square" lIns="0" tIns="0" rIns="0" bIns="0" rtlCol="0" anchor="t"/>
          <a:lstStyle/>
          <a:p>
            <a:pPr marL="0" indent="0">
              <a:spcAft>
                <a:spcPts val="300"/>
              </a:spcAft>
              <a:buNone/>
            </a:pPr>
            <a:r>
              <a:rPr lang="en-US" sz="1300" dirty="0">
                <a:solidFill>
                  <a:srgbClr val="0B1F4B"/>
                </a:solidFill>
              </a:rPr>
              <a:t>Sorted costs: 1, 2, 3, 4, 5, 6, 7</a:t>
            </a:r>
            <a:endParaRPr lang="en-US" sz="1300" dirty="0"/>
          </a:p>
          <a:p>
            <a:pPr marL="0" indent="0">
              <a:spcAft>
                <a:spcPts val="300"/>
              </a:spcAft>
              <a:buNone/>
            </a:pPr>
            <a:r>
              <a:rPr lang="en-US" sz="1300" b="1" dirty="0">
                <a:solidFill>
                  <a:srgbClr val="22A66B"/>
                </a:solidFill>
              </a:rPr>
              <a:t>Add: D–E, A–C, B–D, A–B</a:t>
            </a:r>
            <a:endParaRPr lang="en-US" sz="1300" dirty="0"/>
          </a:p>
          <a:p>
            <a:pPr marL="0" indent="0">
              <a:spcAft>
                <a:spcPts val="300"/>
              </a:spcAft>
              <a:buNone/>
            </a:pPr>
            <a:r>
              <a:rPr lang="en-US" sz="1300" b="1" dirty="0">
                <a:solidFill>
                  <a:srgbClr val="E0533D"/>
                </a:solidFill>
              </a:rPr>
              <a:t>Skip: B–C, C–D, C–E (cycles)</a:t>
            </a:r>
            <a:endParaRPr lang="en-US" sz="1300" dirty="0"/>
          </a:p>
          <a:p>
            <a:pPr marL="0" indent="0">
              <a:spcAft>
                <a:spcPts val="300"/>
              </a:spcAft>
              <a:buNone/>
            </a:pPr>
            <a:r>
              <a:rPr lang="en-US" sz="1300" b="1" dirty="0">
                <a:solidFill>
                  <a:srgbClr val="0B1F4B"/>
                </a:solidFill>
              </a:rPr>
              <a:t>Total cost = 1 + 2 + 3 + 4 = 10</a:t>
            </a:r>
            <a:endParaRPr lang="en-US" sz="1300" dirty="0"/>
          </a:p>
        </p:txBody>
      </p:sp>
      <p:sp>
        <p:nvSpPr>
          <p:cNvPr id="31"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BA8"/>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rgbClr val="0B1F4B"/>
                </a:solidFill>
              </a:rPr>
              <a:t>Website &amp; Results</a:t>
            </a:r>
            <a:endParaRPr lang="en-US" sz="3400" dirty="0"/>
          </a:p>
        </p:txBody>
      </p:sp>
      <p:sp>
        <p:nvSpPr>
          <p:cNvPr id="3" name="Shape 1"/>
          <p:cNvSpPr/>
          <p:nvPr/>
        </p:nvSpPr>
        <p:spPr>
          <a:xfrm>
            <a:off x="457200" y="1097280"/>
            <a:ext cx="8229600" cy="3611880"/>
          </a:xfrm>
          <a:prstGeom prst="rect">
            <a:avLst/>
          </a:prstGeom>
          <a:solidFill>
            <a:srgbClr val="FFFFFF"/>
          </a:solidFill>
          <a:ln w="12700">
            <a:solidFill>
              <a:srgbClr val="CBD6EA"/>
            </a:solidFill>
            <a:prstDash val="solid"/>
          </a:ln>
        </p:spPr>
      </p:sp>
      <p:sp>
        <p:nvSpPr>
          <p:cNvPr id="4" name="Shape 2"/>
          <p:cNvSpPr/>
          <p:nvPr/>
        </p:nvSpPr>
        <p:spPr>
          <a:xfrm>
            <a:off x="457200" y="1097280"/>
            <a:ext cx="8229600" cy="292608"/>
          </a:xfrm>
          <a:prstGeom prst="rect">
            <a:avLst/>
          </a:prstGeom>
          <a:solidFill>
            <a:srgbClr val="0B1F4B"/>
          </a:solidFill>
          <a:ln w="12700">
            <a:solidFill>
              <a:srgbClr val="0B1F4B"/>
            </a:solidFill>
            <a:prstDash val="solid"/>
          </a:ln>
        </p:spPr>
      </p:sp>
      <p:sp>
        <p:nvSpPr>
          <p:cNvPr id="5" name="Shape 3"/>
          <p:cNvSpPr/>
          <p:nvPr/>
        </p:nvSpPr>
        <p:spPr>
          <a:xfrm>
            <a:off x="594360" y="1197864"/>
            <a:ext cx="91440" cy="91440"/>
          </a:xfrm>
          <a:prstGeom prst="ellipse">
            <a:avLst/>
          </a:prstGeom>
          <a:solidFill>
            <a:srgbClr val="E0533D"/>
          </a:solidFill>
          <a:ln w="12700">
            <a:solidFill>
              <a:srgbClr val="E0533D"/>
            </a:solidFill>
            <a:prstDash val="solid"/>
          </a:ln>
        </p:spPr>
      </p:sp>
      <p:sp>
        <p:nvSpPr>
          <p:cNvPr id="6" name="Shape 4"/>
          <p:cNvSpPr/>
          <p:nvPr/>
        </p:nvSpPr>
        <p:spPr>
          <a:xfrm>
            <a:off x="749808" y="1197864"/>
            <a:ext cx="91440" cy="91440"/>
          </a:xfrm>
          <a:prstGeom prst="ellipse">
            <a:avLst/>
          </a:prstGeom>
          <a:solidFill>
            <a:srgbClr val="F2B84B"/>
          </a:solidFill>
          <a:ln w="12700">
            <a:solidFill>
              <a:srgbClr val="F2B84B"/>
            </a:solidFill>
            <a:prstDash val="solid"/>
          </a:ln>
        </p:spPr>
      </p:sp>
      <p:sp>
        <p:nvSpPr>
          <p:cNvPr id="7" name="Shape 5"/>
          <p:cNvSpPr/>
          <p:nvPr/>
        </p:nvSpPr>
        <p:spPr>
          <a:xfrm>
            <a:off x="905256" y="1197864"/>
            <a:ext cx="91440" cy="91440"/>
          </a:xfrm>
          <a:prstGeom prst="ellipse">
            <a:avLst/>
          </a:prstGeom>
          <a:solidFill>
            <a:srgbClr val="22A66B"/>
          </a:solidFill>
          <a:ln w="12700">
            <a:solidFill>
              <a:srgbClr val="22A66B"/>
            </a:solidFill>
            <a:prstDash val="solid"/>
          </a:ln>
        </p:spPr>
      </p:sp>
      <p:sp>
        <p:nvSpPr>
          <p:cNvPr id="8" name="Text 6"/>
          <p:cNvSpPr txBox="1"/>
          <p:nvPr/>
        </p:nvSpPr>
        <p:spPr>
          <a:xfrm>
            <a:off x="1143000" y="1097280"/>
            <a:ext cx="2743200" cy="292608"/>
          </a:xfrm>
          <a:prstGeom prst="rect">
            <a:avLst/>
          </a:prstGeom>
          <a:noFill/>
          <a:ln/>
        </p:spPr>
        <p:txBody>
          <a:bodyPr wrap="square" lIns="0" tIns="0" rIns="0" bIns="0" rtlCol="0" anchor="ctr"/>
          <a:lstStyle/>
          <a:p>
            <a:pPr marL="0" indent="0">
              <a:buNone/>
            </a:pPr>
            <a:r>
              <a:rPr lang="en-US" sz="1000" dirty="0">
                <a:solidFill>
                  <a:srgbClr val="CADCFC"/>
                </a:solidFill>
              </a:rPr>
              <a:t>Campus Network Designer</a:t>
            </a:r>
            <a:endParaRPr lang="en-US" sz="1000" dirty="0"/>
          </a:p>
        </p:txBody>
      </p:sp>
      <p:sp>
        <p:nvSpPr>
          <p:cNvPr id="9" name="Shape 7"/>
          <p:cNvSpPr/>
          <p:nvPr/>
        </p:nvSpPr>
        <p:spPr>
          <a:xfrm>
            <a:off x="457200" y="1389888"/>
            <a:ext cx="2286000" cy="3319272"/>
          </a:xfrm>
          <a:prstGeom prst="rect">
            <a:avLst/>
          </a:prstGeom>
          <a:solidFill>
            <a:srgbClr val="EAF2FD"/>
          </a:solidFill>
          <a:ln w="12700">
            <a:solidFill>
              <a:srgbClr val="EAF2FD"/>
            </a:solidFill>
            <a:prstDash val="solid"/>
          </a:ln>
        </p:spPr>
      </p:sp>
      <p:sp>
        <p:nvSpPr>
          <p:cNvPr id="10" name="Text 8"/>
          <p:cNvSpPr txBox="1"/>
          <p:nvPr/>
        </p:nvSpPr>
        <p:spPr>
          <a:xfrm>
            <a:off x="594360" y="1508760"/>
            <a:ext cx="2011680" cy="201168"/>
          </a:xfrm>
          <a:prstGeom prst="rect">
            <a:avLst/>
          </a:prstGeom>
          <a:noFill/>
          <a:ln/>
        </p:spPr>
        <p:txBody>
          <a:bodyPr wrap="square" lIns="0" tIns="0" rIns="0" bIns="0" rtlCol="0" anchor="ctr"/>
          <a:lstStyle/>
          <a:p>
            <a:pPr marL="0" indent="0">
              <a:buNone/>
            </a:pPr>
            <a:r>
              <a:rPr lang="en-US" sz="1100" b="1" dirty="0">
                <a:solidFill>
                  <a:srgbClr val="0B1F4B"/>
                </a:solidFill>
              </a:rPr>
              <a:t>Add Building</a:t>
            </a:r>
            <a:endParaRPr lang="en-US" sz="1100" dirty="0"/>
          </a:p>
        </p:txBody>
      </p:sp>
      <p:sp>
        <p:nvSpPr>
          <p:cNvPr id="11" name="Shape 9"/>
          <p:cNvSpPr/>
          <p:nvPr/>
        </p:nvSpPr>
        <p:spPr>
          <a:xfrm>
            <a:off x="594360" y="1737360"/>
            <a:ext cx="1417320" cy="274320"/>
          </a:xfrm>
          <a:prstGeom prst="rect">
            <a:avLst/>
          </a:prstGeom>
          <a:solidFill>
            <a:srgbClr val="FFFFFF"/>
          </a:solidFill>
          <a:ln w="12700">
            <a:solidFill>
              <a:srgbClr val="CBD6EA"/>
            </a:solidFill>
            <a:prstDash val="solid"/>
          </a:ln>
        </p:spPr>
      </p:sp>
      <p:sp>
        <p:nvSpPr>
          <p:cNvPr id="12" name="Text 10"/>
          <p:cNvSpPr txBox="1"/>
          <p:nvPr/>
        </p:nvSpPr>
        <p:spPr>
          <a:xfrm>
            <a:off x="667512" y="1737360"/>
            <a:ext cx="1325880" cy="274320"/>
          </a:xfrm>
          <a:prstGeom prst="rect">
            <a:avLst/>
          </a:prstGeom>
          <a:noFill/>
          <a:ln/>
        </p:spPr>
        <p:txBody>
          <a:bodyPr wrap="square" lIns="0" tIns="0" rIns="0" bIns="0" rtlCol="0" anchor="ctr"/>
          <a:lstStyle/>
          <a:p>
            <a:pPr marL="0" indent="0">
              <a:buNone/>
            </a:pPr>
            <a:r>
              <a:rPr lang="en-US" sz="1000" dirty="0">
                <a:solidFill>
                  <a:srgbClr val="5B6B8C"/>
                </a:solidFill>
              </a:rPr>
              <a:t>e.g. Library</a:t>
            </a:r>
            <a:endParaRPr lang="en-US" sz="1000" dirty="0"/>
          </a:p>
        </p:txBody>
      </p:sp>
      <p:sp>
        <p:nvSpPr>
          <p:cNvPr id="13" name="Shape 11"/>
          <p:cNvSpPr/>
          <p:nvPr/>
        </p:nvSpPr>
        <p:spPr>
          <a:xfrm>
            <a:off x="2084832" y="1737360"/>
            <a:ext cx="548640" cy="274320"/>
          </a:xfrm>
          <a:prstGeom prst="roundRect">
            <a:avLst>
              <a:gd name="adj" fmla="val 16667"/>
            </a:avLst>
          </a:prstGeom>
          <a:solidFill>
            <a:srgbClr val="1E6FE0"/>
          </a:solidFill>
          <a:ln w="12700">
            <a:solidFill>
              <a:srgbClr val="1E6FE0"/>
            </a:solidFill>
            <a:prstDash val="solid"/>
          </a:ln>
        </p:spPr>
      </p:sp>
      <p:sp>
        <p:nvSpPr>
          <p:cNvPr id="14" name="Text 12"/>
          <p:cNvSpPr txBox="1"/>
          <p:nvPr/>
        </p:nvSpPr>
        <p:spPr>
          <a:xfrm>
            <a:off x="2084832" y="1737360"/>
            <a:ext cx="548640" cy="274320"/>
          </a:xfrm>
          <a:prstGeom prst="rect">
            <a:avLst/>
          </a:prstGeom>
          <a:noFill/>
          <a:ln/>
        </p:spPr>
        <p:txBody>
          <a:bodyPr wrap="square" lIns="0" tIns="0" rIns="0" bIns="0" rtlCol="0" anchor="ctr"/>
          <a:lstStyle/>
          <a:p>
            <a:pPr marL="0" indent="0" algn="ctr">
              <a:buNone/>
            </a:pPr>
            <a:r>
              <a:rPr lang="en-US" sz="1000" b="1" dirty="0">
                <a:solidFill>
                  <a:srgbClr val="FFFFFF"/>
                </a:solidFill>
              </a:rPr>
              <a:t>+ Add</a:t>
            </a:r>
            <a:endParaRPr lang="en-US" sz="1000" dirty="0"/>
          </a:p>
        </p:txBody>
      </p:sp>
      <p:sp>
        <p:nvSpPr>
          <p:cNvPr id="15" name="Text 13"/>
          <p:cNvSpPr txBox="1"/>
          <p:nvPr/>
        </p:nvSpPr>
        <p:spPr>
          <a:xfrm>
            <a:off x="594360" y="2176272"/>
            <a:ext cx="2011680" cy="201168"/>
          </a:xfrm>
          <a:prstGeom prst="rect">
            <a:avLst/>
          </a:prstGeom>
          <a:noFill/>
          <a:ln/>
        </p:spPr>
        <p:txBody>
          <a:bodyPr wrap="square" lIns="0" tIns="0" rIns="0" bIns="0" rtlCol="0" anchor="ctr"/>
          <a:lstStyle/>
          <a:p>
            <a:pPr marL="0" indent="0">
              <a:buNone/>
            </a:pPr>
            <a:r>
              <a:rPr lang="en-US" sz="1100" b="1" dirty="0">
                <a:solidFill>
                  <a:srgbClr val="0B1F4B"/>
                </a:solidFill>
              </a:rPr>
              <a:t>Add Connection</a:t>
            </a:r>
            <a:endParaRPr lang="en-US" sz="1100" dirty="0"/>
          </a:p>
        </p:txBody>
      </p:sp>
      <p:sp>
        <p:nvSpPr>
          <p:cNvPr id="16" name="Shape 14"/>
          <p:cNvSpPr/>
          <p:nvPr/>
        </p:nvSpPr>
        <p:spPr>
          <a:xfrm>
            <a:off x="594360" y="2404872"/>
            <a:ext cx="2039112" cy="274320"/>
          </a:xfrm>
          <a:prstGeom prst="rect">
            <a:avLst/>
          </a:prstGeom>
          <a:solidFill>
            <a:srgbClr val="FFFFFF"/>
          </a:solidFill>
          <a:ln w="12700">
            <a:solidFill>
              <a:srgbClr val="CBD6EA"/>
            </a:solidFill>
            <a:prstDash val="solid"/>
          </a:ln>
        </p:spPr>
      </p:sp>
      <p:sp>
        <p:nvSpPr>
          <p:cNvPr id="17" name="Text 15"/>
          <p:cNvSpPr txBox="1"/>
          <p:nvPr/>
        </p:nvSpPr>
        <p:spPr>
          <a:xfrm>
            <a:off x="667512" y="2404872"/>
            <a:ext cx="1947672" cy="274320"/>
          </a:xfrm>
          <a:prstGeom prst="rect">
            <a:avLst/>
          </a:prstGeom>
          <a:noFill/>
          <a:ln/>
        </p:spPr>
        <p:txBody>
          <a:bodyPr wrap="square" lIns="0" tIns="0" rIns="0" bIns="0" rtlCol="0" anchor="ctr"/>
          <a:lstStyle/>
          <a:p>
            <a:pPr marL="0" indent="0">
              <a:buNone/>
            </a:pPr>
            <a:r>
              <a:rPr lang="en-US" sz="1000" dirty="0">
                <a:solidFill>
                  <a:srgbClr val="5B6B8C"/>
                </a:solidFill>
              </a:rPr>
              <a:t>Library  →  Admin</a:t>
            </a:r>
            <a:endParaRPr lang="en-US" sz="1000" dirty="0"/>
          </a:p>
        </p:txBody>
      </p:sp>
      <p:sp>
        <p:nvSpPr>
          <p:cNvPr id="18" name="Shape 16"/>
          <p:cNvSpPr/>
          <p:nvPr/>
        </p:nvSpPr>
        <p:spPr>
          <a:xfrm>
            <a:off x="594360" y="2743200"/>
            <a:ext cx="1417320" cy="274320"/>
          </a:xfrm>
          <a:prstGeom prst="rect">
            <a:avLst/>
          </a:prstGeom>
          <a:solidFill>
            <a:srgbClr val="FFFFFF"/>
          </a:solidFill>
          <a:ln w="12700">
            <a:solidFill>
              <a:srgbClr val="CBD6EA"/>
            </a:solidFill>
            <a:prstDash val="solid"/>
          </a:ln>
        </p:spPr>
      </p:sp>
      <p:sp>
        <p:nvSpPr>
          <p:cNvPr id="19" name="Text 17"/>
          <p:cNvSpPr txBox="1"/>
          <p:nvPr/>
        </p:nvSpPr>
        <p:spPr>
          <a:xfrm>
            <a:off x="667512" y="2743200"/>
            <a:ext cx="1325880" cy="274320"/>
          </a:xfrm>
          <a:prstGeom prst="rect">
            <a:avLst/>
          </a:prstGeom>
          <a:noFill/>
          <a:ln/>
        </p:spPr>
        <p:txBody>
          <a:bodyPr wrap="square" lIns="0" tIns="0" rIns="0" bIns="0" rtlCol="0" anchor="ctr"/>
          <a:lstStyle/>
          <a:p>
            <a:pPr marL="0" indent="0">
              <a:buNone/>
            </a:pPr>
            <a:r>
              <a:rPr lang="en-US" sz="1000" dirty="0">
                <a:solidFill>
                  <a:srgbClr val="5B6B8C"/>
                </a:solidFill>
              </a:rPr>
              <a:t>Cost: 4</a:t>
            </a:r>
            <a:endParaRPr lang="en-US" sz="1000" dirty="0"/>
          </a:p>
        </p:txBody>
      </p:sp>
      <p:sp>
        <p:nvSpPr>
          <p:cNvPr id="20" name="Shape 18"/>
          <p:cNvSpPr/>
          <p:nvPr/>
        </p:nvSpPr>
        <p:spPr>
          <a:xfrm>
            <a:off x="2084832" y="2743200"/>
            <a:ext cx="548640" cy="274320"/>
          </a:xfrm>
          <a:prstGeom prst="roundRect">
            <a:avLst>
              <a:gd name="adj" fmla="val 16667"/>
            </a:avLst>
          </a:prstGeom>
          <a:solidFill>
            <a:srgbClr val="1E6FE0"/>
          </a:solidFill>
          <a:ln w="12700">
            <a:solidFill>
              <a:srgbClr val="1E6FE0"/>
            </a:solidFill>
            <a:prstDash val="solid"/>
          </a:ln>
        </p:spPr>
      </p:sp>
      <p:sp>
        <p:nvSpPr>
          <p:cNvPr id="21" name="Text 19"/>
          <p:cNvSpPr txBox="1"/>
          <p:nvPr/>
        </p:nvSpPr>
        <p:spPr>
          <a:xfrm>
            <a:off x="2084832" y="2743200"/>
            <a:ext cx="548640" cy="274320"/>
          </a:xfrm>
          <a:prstGeom prst="rect">
            <a:avLst/>
          </a:prstGeom>
          <a:noFill/>
          <a:ln/>
        </p:spPr>
        <p:txBody>
          <a:bodyPr wrap="square" lIns="0" tIns="0" rIns="0" bIns="0" rtlCol="0" anchor="ctr"/>
          <a:lstStyle/>
          <a:p>
            <a:pPr marL="0" indent="0" algn="ctr">
              <a:buNone/>
            </a:pPr>
            <a:r>
              <a:rPr lang="en-US" sz="1000" b="1" dirty="0">
                <a:solidFill>
                  <a:srgbClr val="FFFFFF"/>
                </a:solidFill>
              </a:rPr>
              <a:t>+ Add</a:t>
            </a:r>
            <a:endParaRPr lang="en-US" sz="1000" dirty="0"/>
          </a:p>
        </p:txBody>
      </p:sp>
      <p:sp>
        <p:nvSpPr>
          <p:cNvPr id="22" name="Shape 20"/>
          <p:cNvSpPr/>
          <p:nvPr/>
        </p:nvSpPr>
        <p:spPr>
          <a:xfrm>
            <a:off x="594360" y="3429000"/>
            <a:ext cx="2039112" cy="457200"/>
          </a:xfrm>
          <a:prstGeom prst="roundRect">
            <a:avLst>
              <a:gd name="adj" fmla="val 16000"/>
            </a:avLst>
          </a:prstGeom>
          <a:solidFill>
            <a:srgbClr val="1E6FE0"/>
          </a:solidFill>
          <a:ln w="12700">
            <a:solidFill>
              <a:srgbClr val="1E6FE0"/>
            </a:solidFill>
            <a:prstDash val="solid"/>
          </a:ln>
          <a:effectLst>
            <a:outerShdw blurRad="76200" dist="25400" dir="5400000" algn="bl" rotWithShape="0">
              <a:srgbClr val="000000">
                <a:alpha val="12000"/>
              </a:srgbClr>
            </a:outerShdw>
          </a:effectLst>
        </p:spPr>
      </p:sp>
      <p:sp>
        <p:nvSpPr>
          <p:cNvPr id="23" name="Text 21"/>
          <p:cNvSpPr txBox="1"/>
          <p:nvPr/>
        </p:nvSpPr>
        <p:spPr>
          <a:xfrm>
            <a:off x="594360" y="3429000"/>
            <a:ext cx="2039112" cy="457200"/>
          </a:xfrm>
          <a:prstGeom prst="rect">
            <a:avLst/>
          </a:prstGeom>
          <a:noFill/>
          <a:ln/>
        </p:spPr>
        <p:txBody>
          <a:bodyPr wrap="square" lIns="0" tIns="0" rIns="0" bIns="0" rtlCol="0" anchor="ctr"/>
          <a:lstStyle/>
          <a:p>
            <a:pPr marL="0" indent="0" algn="ctr">
              <a:buNone/>
            </a:pPr>
            <a:r>
              <a:rPr lang="en-US" sz="1200" b="1" dirty="0">
                <a:solidFill>
                  <a:srgbClr val="FFFFFF"/>
                </a:solidFill>
              </a:rPr>
              <a:t>Find Minimum Network</a:t>
            </a:r>
            <a:endParaRPr lang="en-US" sz="1200" dirty="0"/>
          </a:p>
        </p:txBody>
      </p:sp>
      <p:sp>
        <p:nvSpPr>
          <p:cNvPr id="24" name="Text 22"/>
          <p:cNvSpPr txBox="1"/>
          <p:nvPr/>
        </p:nvSpPr>
        <p:spPr>
          <a:xfrm>
            <a:off x="594360" y="4023360"/>
            <a:ext cx="2011680" cy="228600"/>
          </a:xfrm>
          <a:prstGeom prst="rect">
            <a:avLst/>
          </a:prstGeom>
          <a:noFill/>
          <a:ln/>
        </p:spPr>
        <p:txBody>
          <a:bodyPr wrap="square" lIns="0" tIns="0" rIns="0" bIns="0" rtlCol="0" anchor="ctr"/>
          <a:lstStyle/>
          <a:p>
            <a:pPr marL="0" indent="0">
              <a:buNone/>
            </a:pPr>
            <a:r>
              <a:rPr lang="en-US" sz="1000" dirty="0">
                <a:solidFill>
                  <a:srgbClr val="5B6B8C"/>
                </a:solidFill>
              </a:rPr>
              <a:t>5 buildings · 7 connections</a:t>
            </a:r>
            <a:endParaRPr lang="en-US" sz="1000" dirty="0"/>
          </a:p>
        </p:txBody>
      </p:sp>
      <p:sp>
        <p:nvSpPr>
          <p:cNvPr id="25" name="Shape 23"/>
          <p:cNvSpPr/>
          <p:nvPr/>
        </p:nvSpPr>
        <p:spPr>
          <a:xfrm>
            <a:off x="3337560" y="1965960"/>
            <a:ext cx="1280160" cy="0"/>
          </a:xfrm>
          <a:prstGeom prst="line">
            <a:avLst/>
          </a:prstGeom>
          <a:noFill/>
          <a:ln w="57150">
            <a:solidFill>
              <a:srgbClr val="22A66B"/>
            </a:solidFill>
            <a:prstDash val="solid"/>
          </a:ln>
        </p:spPr>
      </p:sp>
      <p:sp>
        <p:nvSpPr>
          <p:cNvPr id="26" name="Shape 24"/>
          <p:cNvSpPr/>
          <p:nvPr/>
        </p:nvSpPr>
        <p:spPr>
          <a:xfrm>
            <a:off x="3337560" y="1965960"/>
            <a:ext cx="0" cy="1520190"/>
          </a:xfrm>
          <a:prstGeom prst="line">
            <a:avLst/>
          </a:prstGeom>
          <a:noFill/>
          <a:ln w="57150">
            <a:solidFill>
              <a:srgbClr val="22A66B"/>
            </a:solidFill>
            <a:prstDash val="solid"/>
          </a:ln>
        </p:spPr>
      </p:sp>
      <p:sp>
        <p:nvSpPr>
          <p:cNvPr id="27" name="Shape 25"/>
          <p:cNvSpPr/>
          <p:nvPr/>
        </p:nvSpPr>
        <p:spPr>
          <a:xfrm flipV="1">
            <a:off x="3337560" y="1965960"/>
            <a:ext cx="1280160" cy="1520190"/>
          </a:xfrm>
          <a:prstGeom prst="line">
            <a:avLst/>
          </a:prstGeom>
          <a:noFill/>
          <a:ln w="19050">
            <a:solidFill>
              <a:srgbClr val="B5C1D8"/>
            </a:solidFill>
            <a:prstDash val="dash"/>
          </a:ln>
        </p:spPr>
      </p:sp>
      <p:sp>
        <p:nvSpPr>
          <p:cNvPr id="28" name="Shape 26"/>
          <p:cNvSpPr/>
          <p:nvPr/>
        </p:nvSpPr>
        <p:spPr>
          <a:xfrm>
            <a:off x="4617720" y="1965960"/>
            <a:ext cx="1280160" cy="528066"/>
          </a:xfrm>
          <a:prstGeom prst="line">
            <a:avLst/>
          </a:prstGeom>
          <a:noFill/>
          <a:ln w="57150">
            <a:solidFill>
              <a:srgbClr val="22A66B"/>
            </a:solidFill>
            <a:prstDash val="solid"/>
          </a:ln>
        </p:spPr>
      </p:sp>
      <p:sp>
        <p:nvSpPr>
          <p:cNvPr id="29" name="Shape 27"/>
          <p:cNvSpPr/>
          <p:nvPr/>
        </p:nvSpPr>
        <p:spPr>
          <a:xfrm flipV="1">
            <a:off x="3337560" y="2494026"/>
            <a:ext cx="2560320" cy="992124"/>
          </a:xfrm>
          <a:prstGeom prst="line">
            <a:avLst/>
          </a:prstGeom>
          <a:noFill/>
          <a:ln w="19050">
            <a:solidFill>
              <a:srgbClr val="B5C1D8"/>
            </a:solidFill>
            <a:prstDash val="dash"/>
          </a:ln>
        </p:spPr>
      </p:sp>
      <p:sp>
        <p:nvSpPr>
          <p:cNvPr id="30" name="Shape 28"/>
          <p:cNvSpPr/>
          <p:nvPr/>
        </p:nvSpPr>
        <p:spPr>
          <a:xfrm>
            <a:off x="3337560" y="3486150"/>
            <a:ext cx="1920240" cy="80010"/>
          </a:xfrm>
          <a:prstGeom prst="line">
            <a:avLst/>
          </a:prstGeom>
          <a:noFill/>
          <a:ln w="19050">
            <a:solidFill>
              <a:srgbClr val="B5C1D8"/>
            </a:solidFill>
            <a:prstDash val="dash"/>
          </a:ln>
        </p:spPr>
      </p:sp>
      <p:sp>
        <p:nvSpPr>
          <p:cNvPr id="31" name="Shape 29"/>
          <p:cNvSpPr/>
          <p:nvPr/>
        </p:nvSpPr>
        <p:spPr>
          <a:xfrm flipV="1">
            <a:off x="5257800" y="2494026"/>
            <a:ext cx="640080" cy="1072134"/>
          </a:xfrm>
          <a:prstGeom prst="line">
            <a:avLst/>
          </a:prstGeom>
          <a:noFill/>
          <a:ln w="57150">
            <a:solidFill>
              <a:srgbClr val="22A66B"/>
            </a:solidFill>
            <a:prstDash val="solid"/>
          </a:ln>
        </p:spPr>
      </p:sp>
      <p:sp>
        <p:nvSpPr>
          <p:cNvPr id="32" name="Shape 30"/>
          <p:cNvSpPr/>
          <p:nvPr/>
        </p:nvSpPr>
        <p:spPr>
          <a:xfrm>
            <a:off x="3831336" y="1856232"/>
            <a:ext cx="292608" cy="219456"/>
          </a:xfrm>
          <a:prstGeom prst="roundRect">
            <a:avLst>
              <a:gd name="adj" fmla="val 25000"/>
            </a:avLst>
          </a:prstGeom>
          <a:solidFill>
            <a:srgbClr val="FFFFFF"/>
          </a:solidFill>
          <a:ln w="12700">
            <a:solidFill>
              <a:srgbClr val="22A66B"/>
            </a:solidFill>
            <a:prstDash val="solid"/>
          </a:ln>
        </p:spPr>
      </p:sp>
      <p:sp>
        <p:nvSpPr>
          <p:cNvPr id="33" name="Text 31"/>
          <p:cNvSpPr txBox="1"/>
          <p:nvPr/>
        </p:nvSpPr>
        <p:spPr>
          <a:xfrm>
            <a:off x="3831336" y="1856232"/>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4</a:t>
            </a:r>
            <a:endParaRPr lang="en-US" sz="1100" dirty="0"/>
          </a:p>
        </p:txBody>
      </p:sp>
      <p:sp>
        <p:nvSpPr>
          <p:cNvPr id="34" name="Shape 32"/>
          <p:cNvSpPr/>
          <p:nvPr/>
        </p:nvSpPr>
        <p:spPr>
          <a:xfrm>
            <a:off x="3191256" y="2616327"/>
            <a:ext cx="292608" cy="219456"/>
          </a:xfrm>
          <a:prstGeom prst="roundRect">
            <a:avLst>
              <a:gd name="adj" fmla="val 25000"/>
            </a:avLst>
          </a:prstGeom>
          <a:solidFill>
            <a:srgbClr val="FFFFFF"/>
          </a:solidFill>
          <a:ln w="12700">
            <a:solidFill>
              <a:srgbClr val="22A66B"/>
            </a:solidFill>
            <a:prstDash val="solid"/>
          </a:ln>
        </p:spPr>
      </p:sp>
      <p:sp>
        <p:nvSpPr>
          <p:cNvPr id="35" name="Text 33"/>
          <p:cNvSpPr txBox="1"/>
          <p:nvPr/>
        </p:nvSpPr>
        <p:spPr>
          <a:xfrm>
            <a:off x="3191256" y="2616327"/>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2</a:t>
            </a:r>
            <a:endParaRPr lang="en-US" sz="1100" dirty="0"/>
          </a:p>
        </p:txBody>
      </p:sp>
      <p:sp>
        <p:nvSpPr>
          <p:cNvPr id="36" name="Shape 34"/>
          <p:cNvSpPr/>
          <p:nvPr/>
        </p:nvSpPr>
        <p:spPr>
          <a:xfrm>
            <a:off x="3831336" y="2616327"/>
            <a:ext cx="292608" cy="219456"/>
          </a:xfrm>
          <a:prstGeom prst="roundRect">
            <a:avLst>
              <a:gd name="adj" fmla="val 25000"/>
            </a:avLst>
          </a:prstGeom>
          <a:solidFill>
            <a:srgbClr val="FFFFFF"/>
          </a:solidFill>
          <a:ln w="12700">
            <a:solidFill>
              <a:srgbClr val="B5C1D8"/>
            </a:solidFill>
            <a:prstDash val="solid"/>
          </a:ln>
        </p:spPr>
      </p:sp>
      <p:sp>
        <p:nvSpPr>
          <p:cNvPr id="37" name="Text 35"/>
          <p:cNvSpPr txBox="1"/>
          <p:nvPr/>
        </p:nvSpPr>
        <p:spPr>
          <a:xfrm>
            <a:off x="3831336" y="2616327"/>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5</a:t>
            </a:r>
            <a:endParaRPr lang="en-US" sz="1100" dirty="0"/>
          </a:p>
        </p:txBody>
      </p:sp>
      <p:sp>
        <p:nvSpPr>
          <p:cNvPr id="38" name="Shape 36"/>
          <p:cNvSpPr/>
          <p:nvPr/>
        </p:nvSpPr>
        <p:spPr>
          <a:xfrm>
            <a:off x="5111496" y="2120265"/>
            <a:ext cx="292608" cy="219456"/>
          </a:xfrm>
          <a:prstGeom prst="roundRect">
            <a:avLst>
              <a:gd name="adj" fmla="val 25000"/>
            </a:avLst>
          </a:prstGeom>
          <a:solidFill>
            <a:srgbClr val="FFFFFF"/>
          </a:solidFill>
          <a:ln w="12700">
            <a:solidFill>
              <a:srgbClr val="22A66B"/>
            </a:solidFill>
            <a:prstDash val="solid"/>
          </a:ln>
        </p:spPr>
      </p:sp>
      <p:sp>
        <p:nvSpPr>
          <p:cNvPr id="39" name="Text 37"/>
          <p:cNvSpPr txBox="1"/>
          <p:nvPr/>
        </p:nvSpPr>
        <p:spPr>
          <a:xfrm>
            <a:off x="5111496" y="2120265"/>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3</a:t>
            </a:r>
            <a:endParaRPr lang="en-US" sz="1100" dirty="0"/>
          </a:p>
        </p:txBody>
      </p:sp>
      <p:sp>
        <p:nvSpPr>
          <p:cNvPr id="40" name="Shape 38"/>
          <p:cNvSpPr/>
          <p:nvPr/>
        </p:nvSpPr>
        <p:spPr>
          <a:xfrm>
            <a:off x="4471416" y="2880360"/>
            <a:ext cx="292608" cy="219456"/>
          </a:xfrm>
          <a:prstGeom prst="roundRect">
            <a:avLst>
              <a:gd name="adj" fmla="val 25000"/>
            </a:avLst>
          </a:prstGeom>
          <a:solidFill>
            <a:srgbClr val="FFFFFF"/>
          </a:solidFill>
          <a:ln w="12700">
            <a:solidFill>
              <a:srgbClr val="B5C1D8"/>
            </a:solidFill>
            <a:prstDash val="solid"/>
          </a:ln>
        </p:spPr>
      </p:sp>
      <p:sp>
        <p:nvSpPr>
          <p:cNvPr id="41" name="Text 39"/>
          <p:cNvSpPr txBox="1"/>
          <p:nvPr/>
        </p:nvSpPr>
        <p:spPr>
          <a:xfrm>
            <a:off x="4471416" y="2880360"/>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6</a:t>
            </a:r>
            <a:endParaRPr lang="en-US" sz="1100" dirty="0"/>
          </a:p>
        </p:txBody>
      </p:sp>
      <p:sp>
        <p:nvSpPr>
          <p:cNvPr id="42" name="Shape 40"/>
          <p:cNvSpPr/>
          <p:nvPr/>
        </p:nvSpPr>
        <p:spPr>
          <a:xfrm>
            <a:off x="4151376" y="3416427"/>
            <a:ext cx="292608" cy="219456"/>
          </a:xfrm>
          <a:prstGeom prst="roundRect">
            <a:avLst>
              <a:gd name="adj" fmla="val 25000"/>
            </a:avLst>
          </a:prstGeom>
          <a:solidFill>
            <a:srgbClr val="FFFFFF"/>
          </a:solidFill>
          <a:ln w="12700">
            <a:solidFill>
              <a:srgbClr val="B5C1D8"/>
            </a:solidFill>
            <a:prstDash val="solid"/>
          </a:ln>
        </p:spPr>
      </p:sp>
      <p:sp>
        <p:nvSpPr>
          <p:cNvPr id="43" name="Text 41"/>
          <p:cNvSpPr txBox="1"/>
          <p:nvPr/>
        </p:nvSpPr>
        <p:spPr>
          <a:xfrm>
            <a:off x="4151376" y="3416427"/>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7</a:t>
            </a:r>
            <a:endParaRPr lang="en-US" sz="1100" dirty="0"/>
          </a:p>
        </p:txBody>
      </p:sp>
      <p:sp>
        <p:nvSpPr>
          <p:cNvPr id="44" name="Shape 42"/>
          <p:cNvSpPr/>
          <p:nvPr/>
        </p:nvSpPr>
        <p:spPr>
          <a:xfrm>
            <a:off x="5431536" y="2920365"/>
            <a:ext cx="292608" cy="219456"/>
          </a:xfrm>
          <a:prstGeom prst="roundRect">
            <a:avLst>
              <a:gd name="adj" fmla="val 25000"/>
            </a:avLst>
          </a:prstGeom>
          <a:solidFill>
            <a:srgbClr val="FFFFFF"/>
          </a:solidFill>
          <a:ln w="12700">
            <a:solidFill>
              <a:srgbClr val="22A66B"/>
            </a:solidFill>
            <a:prstDash val="solid"/>
          </a:ln>
        </p:spPr>
      </p:sp>
      <p:sp>
        <p:nvSpPr>
          <p:cNvPr id="45" name="Text 43"/>
          <p:cNvSpPr txBox="1"/>
          <p:nvPr/>
        </p:nvSpPr>
        <p:spPr>
          <a:xfrm>
            <a:off x="5431536" y="2920365"/>
            <a:ext cx="292608" cy="219456"/>
          </a:xfrm>
          <a:prstGeom prst="rect">
            <a:avLst/>
          </a:prstGeom>
          <a:noFill/>
          <a:ln/>
        </p:spPr>
        <p:txBody>
          <a:bodyPr wrap="square" lIns="0" tIns="0" rIns="0" bIns="0" rtlCol="0" anchor="ctr"/>
          <a:lstStyle/>
          <a:p>
            <a:pPr marL="0" indent="0" algn="ctr">
              <a:buNone/>
            </a:pPr>
            <a:r>
              <a:rPr lang="en-US" sz="1100" b="1" dirty="0">
                <a:solidFill>
                  <a:srgbClr val="0B1F4B"/>
                </a:solidFill>
              </a:rPr>
              <a:t>1</a:t>
            </a:r>
            <a:endParaRPr lang="en-US" sz="1100" dirty="0"/>
          </a:p>
        </p:txBody>
      </p:sp>
      <p:sp>
        <p:nvSpPr>
          <p:cNvPr id="46" name="Text 44"/>
          <p:cNvSpPr/>
          <p:nvPr/>
        </p:nvSpPr>
        <p:spPr>
          <a:xfrm>
            <a:off x="3136392" y="1764792"/>
            <a:ext cx="402336" cy="402336"/>
          </a:xfrm>
          <a:prstGeom prst="ellipse">
            <a:avLst/>
          </a:prstGeom>
          <a:solidFill>
            <a:srgbClr val="1E6FE0"/>
          </a:solidFill>
          <a:ln w="25400">
            <a:solidFill>
              <a:srgbClr val="1E6FE0"/>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47" name="Text 45"/>
          <p:cNvSpPr txBox="1"/>
          <p:nvPr/>
        </p:nvSpPr>
        <p:spPr>
          <a:xfrm>
            <a:off x="2834640" y="1517904"/>
            <a:ext cx="1005840" cy="219456"/>
          </a:xfrm>
          <a:prstGeom prst="rect">
            <a:avLst/>
          </a:prstGeom>
          <a:noFill/>
          <a:ln/>
        </p:spPr>
        <p:txBody>
          <a:bodyPr wrap="square" lIns="0" tIns="0" rIns="0" bIns="0" rtlCol="0" anchor="ctr"/>
          <a:lstStyle/>
          <a:p>
            <a:pPr marL="0" indent="0" algn="ctr">
              <a:buNone/>
            </a:pPr>
            <a:r>
              <a:rPr lang="en-US" sz="1100" b="1" dirty="0">
                <a:solidFill>
                  <a:srgbClr val="0B1F4B"/>
                </a:solidFill>
              </a:rPr>
              <a:t>Library</a:t>
            </a:r>
            <a:endParaRPr lang="en-US" sz="1100" dirty="0"/>
          </a:p>
        </p:txBody>
      </p:sp>
      <p:sp>
        <p:nvSpPr>
          <p:cNvPr id="48" name="Text 46"/>
          <p:cNvSpPr/>
          <p:nvPr/>
        </p:nvSpPr>
        <p:spPr>
          <a:xfrm>
            <a:off x="4416552" y="1764792"/>
            <a:ext cx="402336" cy="402336"/>
          </a:xfrm>
          <a:prstGeom prst="ellipse">
            <a:avLst/>
          </a:prstGeom>
          <a:solidFill>
            <a:srgbClr val="1E6FE0"/>
          </a:solidFill>
          <a:ln w="25400">
            <a:solidFill>
              <a:srgbClr val="1E6FE0"/>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49" name="Text 47"/>
          <p:cNvSpPr txBox="1"/>
          <p:nvPr/>
        </p:nvSpPr>
        <p:spPr>
          <a:xfrm>
            <a:off x="4114800" y="1517904"/>
            <a:ext cx="1005840" cy="219456"/>
          </a:xfrm>
          <a:prstGeom prst="rect">
            <a:avLst/>
          </a:prstGeom>
          <a:noFill/>
          <a:ln/>
        </p:spPr>
        <p:txBody>
          <a:bodyPr wrap="square" lIns="0" tIns="0" rIns="0" bIns="0" rtlCol="0" anchor="ctr"/>
          <a:lstStyle/>
          <a:p>
            <a:pPr marL="0" indent="0" algn="ctr">
              <a:buNone/>
            </a:pPr>
            <a:r>
              <a:rPr lang="en-US" sz="1100" b="1" dirty="0">
                <a:solidFill>
                  <a:srgbClr val="0B1F4B"/>
                </a:solidFill>
              </a:rPr>
              <a:t>Admin</a:t>
            </a:r>
            <a:endParaRPr lang="en-US" sz="1100" dirty="0"/>
          </a:p>
        </p:txBody>
      </p:sp>
      <p:sp>
        <p:nvSpPr>
          <p:cNvPr id="50" name="Text 48"/>
          <p:cNvSpPr/>
          <p:nvPr/>
        </p:nvSpPr>
        <p:spPr>
          <a:xfrm>
            <a:off x="5696712" y="2292858"/>
            <a:ext cx="402336" cy="402336"/>
          </a:xfrm>
          <a:prstGeom prst="ellipse">
            <a:avLst/>
          </a:prstGeom>
          <a:solidFill>
            <a:srgbClr val="1E6FE0"/>
          </a:solidFill>
          <a:ln w="25400">
            <a:solidFill>
              <a:srgbClr val="1E6FE0"/>
            </a:solidFill>
          </a:ln>
        </p:spPr>
        <p:txBody>
          <a:bodyPr wrap="square" lIns="0" tIns="0" rIns="0" bIns="0" rtlCol="0" anchor="ctr"/>
          <a:lstStyle/>
          <a:p>
            <a:pPr marL="0" indent="0" algn="ctr">
              <a:buNone/>
            </a:pPr>
            <a:r>
              <a:rPr lang="en-US" sz="1200" b="1" dirty="0">
                <a:solidFill>
                  <a:srgbClr val="FFFFFF"/>
                </a:solidFill>
              </a:rPr>
              <a:t>D</a:t>
            </a:r>
            <a:endParaRPr lang="en-US" sz="1200" dirty="0"/>
          </a:p>
        </p:txBody>
      </p:sp>
      <p:sp>
        <p:nvSpPr>
          <p:cNvPr id="51" name="Text 49"/>
          <p:cNvSpPr txBox="1"/>
          <p:nvPr/>
        </p:nvSpPr>
        <p:spPr>
          <a:xfrm>
            <a:off x="6153912" y="2384298"/>
            <a:ext cx="914400" cy="219456"/>
          </a:xfrm>
          <a:prstGeom prst="rect">
            <a:avLst/>
          </a:prstGeom>
          <a:noFill/>
          <a:ln/>
        </p:spPr>
        <p:txBody>
          <a:bodyPr wrap="square" lIns="0" tIns="0" rIns="0" bIns="0" rtlCol="0" anchor="ctr"/>
          <a:lstStyle/>
          <a:p>
            <a:pPr marL="0" indent="0" algn="l">
              <a:buNone/>
            </a:pPr>
            <a:r>
              <a:rPr lang="en-US" sz="1100" b="1" dirty="0">
                <a:solidFill>
                  <a:srgbClr val="0B1F4B"/>
                </a:solidFill>
              </a:rPr>
              <a:t>Lab</a:t>
            </a:r>
            <a:endParaRPr lang="en-US" sz="1100" dirty="0"/>
          </a:p>
        </p:txBody>
      </p:sp>
      <p:sp>
        <p:nvSpPr>
          <p:cNvPr id="52" name="Text 50"/>
          <p:cNvSpPr/>
          <p:nvPr/>
        </p:nvSpPr>
        <p:spPr>
          <a:xfrm>
            <a:off x="3136392" y="3284982"/>
            <a:ext cx="402336" cy="402336"/>
          </a:xfrm>
          <a:prstGeom prst="ellipse">
            <a:avLst/>
          </a:prstGeom>
          <a:solidFill>
            <a:srgbClr val="1E6FE0"/>
          </a:solidFill>
          <a:ln w="25400">
            <a:solidFill>
              <a:srgbClr val="1E6FE0"/>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53" name="Text 51"/>
          <p:cNvSpPr txBox="1"/>
          <p:nvPr/>
        </p:nvSpPr>
        <p:spPr>
          <a:xfrm>
            <a:off x="2834640" y="3714750"/>
            <a:ext cx="1005840" cy="219456"/>
          </a:xfrm>
          <a:prstGeom prst="rect">
            <a:avLst/>
          </a:prstGeom>
          <a:noFill/>
          <a:ln/>
        </p:spPr>
        <p:txBody>
          <a:bodyPr wrap="square" lIns="0" tIns="0" rIns="0" bIns="0" rtlCol="0" anchor="ctr"/>
          <a:lstStyle/>
          <a:p>
            <a:pPr marL="0" indent="0" algn="ctr">
              <a:buNone/>
            </a:pPr>
            <a:r>
              <a:rPr lang="en-US" sz="1100" b="1" dirty="0">
                <a:solidFill>
                  <a:srgbClr val="0B1F4B"/>
                </a:solidFill>
              </a:rPr>
              <a:t>Hostel</a:t>
            </a:r>
            <a:endParaRPr lang="en-US" sz="1100" dirty="0"/>
          </a:p>
        </p:txBody>
      </p:sp>
      <p:sp>
        <p:nvSpPr>
          <p:cNvPr id="54" name="Text 52"/>
          <p:cNvSpPr/>
          <p:nvPr/>
        </p:nvSpPr>
        <p:spPr>
          <a:xfrm>
            <a:off x="5056632" y="3364992"/>
            <a:ext cx="402336" cy="402336"/>
          </a:xfrm>
          <a:prstGeom prst="ellipse">
            <a:avLst/>
          </a:prstGeom>
          <a:solidFill>
            <a:srgbClr val="1E6FE0"/>
          </a:solidFill>
          <a:ln w="25400">
            <a:solidFill>
              <a:srgbClr val="1E6FE0"/>
            </a:solidFill>
          </a:ln>
        </p:spPr>
        <p:txBody>
          <a:bodyPr wrap="square" lIns="0" tIns="0" rIns="0" bIns="0" rtlCol="0" anchor="ctr"/>
          <a:lstStyle/>
          <a:p>
            <a:pPr marL="0" indent="0" algn="ctr">
              <a:buNone/>
            </a:pPr>
            <a:r>
              <a:rPr lang="en-US" sz="1200" b="1" dirty="0">
                <a:solidFill>
                  <a:srgbClr val="FFFFFF"/>
                </a:solidFill>
              </a:rPr>
              <a:t>E</a:t>
            </a:r>
            <a:endParaRPr lang="en-US" sz="1200" dirty="0"/>
          </a:p>
        </p:txBody>
      </p:sp>
      <p:sp>
        <p:nvSpPr>
          <p:cNvPr id="55" name="Text 53"/>
          <p:cNvSpPr txBox="1"/>
          <p:nvPr/>
        </p:nvSpPr>
        <p:spPr>
          <a:xfrm>
            <a:off x="4754880" y="3794760"/>
            <a:ext cx="1005840" cy="219456"/>
          </a:xfrm>
          <a:prstGeom prst="rect">
            <a:avLst/>
          </a:prstGeom>
          <a:noFill/>
          <a:ln/>
        </p:spPr>
        <p:txBody>
          <a:bodyPr wrap="square" lIns="0" tIns="0" rIns="0" bIns="0" rtlCol="0" anchor="ctr"/>
          <a:lstStyle/>
          <a:p>
            <a:pPr marL="0" indent="0" algn="ctr">
              <a:buNone/>
            </a:pPr>
            <a:r>
              <a:rPr lang="en-US" sz="1100" b="1" dirty="0">
                <a:solidFill>
                  <a:srgbClr val="0B1F4B"/>
                </a:solidFill>
              </a:rPr>
              <a:t>Canteen</a:t>
            </a:r>
            <a:endParaRPr lang="en-US" sz="1100" dirty="0"/>
          </a:p>
        </p:txBody>
      </p:sp>
      <p:sp>
        <p:nvSpPr>
          <p:cNvPr id="56" name="Shape 54"/>
          <p:cNvSpPr/>
          <p:nvPr/>
        </p:nvSpPr>
        <p:spPr>
          <a:xfrm>
            <a:off x="2926080" y="4453128"/>
            <a:ext cx="320040" cy="0"/>
          </a:xfrm>
          <a:prstGeom prst="line">
            <a:avLst/>
          </a:prstGeom>
          <a:noFill/>
          <a:ln w="57150">
            <a:solidFill>
              <a:srgbClr val="22A66B"/>
            </a:solidFill>
            <a:prstDash val="solid"/>
          </a:ln>
        </p:spPr>
      </p:sp>
      <p:sp>
        <p:nvSpPr>
          <p:cNvPr id="57" name="Text 55"/>
          <p:cNvSpPr txBox="1"/>
          <p:nvPr/>
        </p:nvSpPr>
        <p:spPr>
          <a:xfrm>
            <a:off x="3310128" y="4343400"/>
            <a:ext cx="1188720" cy="228600"/>
          </a:xfrm>
          <a:prstGeom prst="rect">
            <a:avLst/>
          </a:prstGeom>
          <a:noFill/>
          <a:ln/>
        </p:spPr>
        <p:txBody>
          <a:bodyPr wrap="square" lIns="0" tIns="0" rIns="0" bIns="0" rtlCol="0" anchor="ctr"/>
          <a:lstStyle/>
          <a:p>
            <a:pPr marL="0" indent="0">
              <a:buNone/>
            </a:pPr>
            <a:r>
              <a:rPr lang="en-US" sz="1000" dirty="0">
                <a:solidFill>
                  <a:srgbClr val="0B1F4B"/>
                </a:solidFill>
              </a:rPr>
              <a:t>MST (selected)</a:t>
            </a:r>
            <a:endParaRPr lang="en-US" sz="1000" dirty="0"/>
          </a:p>
        </p:txBody>
      </p:sp>
      <p:sp>
        <p:nvSpPr>
          <p:cNvPr id="58" name="Shape 56"/>
          <p:cNvSpPr/>
          <p:nvPr/>
        </p:nvSpPr>
        <p:spPr>
          <a:xfrm>
            <a:off x="4572000" y="4453128"/>
            <a:ext cx="320040" cy="0"/>
          </a:xfrm>
          <a:prstGeom prst="line">
            <a:avLst/>
          </a:prstGeom>
          <a:noFill/>
          <a:ln w="19050">
            <a:solidFill>
              <a:srgbClr val="B5C1D8"/>
            </a:solidFill>
            <a:prstDash val="dash"/>
          </a:ln>
        </p:spPr>
      </p:sp>
      <p:sp>
        <p:nvSpPr>
          <p:cNvPr id="59" name="Text 57"/>
          <p:cNvSpPr txBox="1"/>
          <p:nvPr/>
        </p:nvSpPr>
        <p:spPr>
          <a:xfrm>
            <a:off x="4956048" y="4343400"/>
            <a:ext cx="1097280" cy="228600"/>
          </a:xfrm>
          <a:prstGeom prst="rect">
            <a:avLst/>
          </a:prstGeom>
          <a:noFill/>
          <a:ln/>
        </p:spPr>
        <p:txBody>
          <a:bodyPr wrap="square" lIns="0" tIns="0" rIns="0" bIns="0" rtlCol="0" anchor="ctr"/>
          <a:lstStyle/>
          <a:p>
            <a:pPr marL="0" indent="0">
              <a:buNone/>
            </a:pPr>
            <a:r>
              <a:rPr lang="en-US" sz="1000" dirty="0">
                <a:solidFill>
                  <a:srgbClr val="0B1F4B"/>
                </a:solidFill>
              </a:rPr>
              <a:t>Not used</a:t>
            </a:r>
            <a:endParaRPr lang="en-US" sz="1000" dirty="0"/>
          </a:p>
        </p:txBody>
      </p:sp>
      <p:sp>
        <p:nvSpPr>
          <p:cNvPr id="60" name="Shape 58"/>
          <p:cNvSpPr/>
          <p:nvPr/>
        </p:nvSpPr>
        <p:spPr>
          <a:xfrm>
            <a:off x="6766560" y="1389888"/>
            <a:ext cx="1920240" cy="3319272"/>
          </a:xfrm>
          <a:prstGeom prst="rect">
            <a:avLst/>
          </a:prstGeom>
          <a:solidFill>
            <a:srgbClr val="0B1F4B"/>
          </a:solidFill>
          <a:ln w="12700">
            <a:solidFill>
              <a:srgbClr val="0B1F4B"/>
            </a:solidFill>
            <a:prstDash val="solid"/>
          </a:ln>
        </p:spPr>
      </p:sp>
      <p:sp>
        <p:nvSpPr>
          <p:cNvPr id="61" name="Text 59"/>
          <p:cNvSpPr txBox="1"/>
          <p:nvPr/>
        </p:nvSpPr>
        <p:spPr>
          <a:xfrm>
            <a:off x="6949440" y="1554480"/>
            <a:ext cx="1645920" cy="228600"/>
          </a:xfrm>
          <a:prstGeom prst="rect">
            <a:avLst/>
          </a:prstGeom>
          <a:noFill/>
          <a:ln/>
        </p:spPr>
        <p:txBody>
          <a:bodyPr wrap="square" lIns="0" tIns="0" rIns="0" bIns="0" rtlCol="0" anchor="ctr"/>
          <a:lstStyle/>
          <a:p>
            <a:pPr marL="0" indent="0">
              <a:buNone/>
            </a:pPr>
            <a:r>
              <a:rPr lang="en-US" sz="1000" b="1" dirty="0">
                <a:solidFill>
                  <a:srgbClr val="4DA3FF"/>
                </a:solidFill>
              </a:rPr>
              <a:t>MINIMUM TOTAL COST</a:t>
            </a:r>
            <a:endParaRPr lang="en-US" sz="1000" dirty="0"/>
          </a:p>
        </p:txBody>
      </p:sp>
      <p:sp>
        <p:nvSpPr>
          <p:cNvPr id="62" name="Text 60"/>
          <p:cNvSpPr txBox="1"/>
          <p:nvPr/>
        </p:nvSpPr>
        <p:spPr>
          <a:xfrm>
            <a:off x="6949440" y="1828800"/>
            <a:ext cx="1645920" cy="914400"/>
          </a:xfrm>
          <a:prstGeom prst="rect">
            <a:avLst/>
          </a:prstGeom>
          <a:noFill/>
          <a:ln/>
        </p:spPr>
        <p:txBody>
          <a:bodyPr wrap="square" lIns="0" tIns="0" rIns="0" bIns="0" rtlCol="0" anchor="ctr"/>
          <a:lstStyle/>
          <a:p>
            <a:pPr marL="0" indent="0">
              <a:buNone/>
            </a:pPr>
            <a:r>
              <a:rPr lang="en-US" sz="6000" b="1" dirty="0">
                <a:solidFill>
                  <a:srgbClr val="3DDC97"/>
                </a:solidFill>
              </a:rPr>
              <a:t>10</a:t>
            </a:r>
            <a:endParaRPr lang="en-US" sz="6000" dirty="0"/>
          </a:p>
        </p:txBody>
      </p:sp>
      <p:sp>
        <p:nvSpPr>
          <p:cNvPr id="63" name="Text 61"/>
          <p:cNvSpPr txBox="1"/>
          <p:nvPr/>
        </p:nvSpPr>
        <p:spPr>
          <a:xfrm>
            <a:off x="6949440" y="2743200"/>
            <a:ext cx="1645920" cy="274320"/>
          </a:xfrm>
          <a:prstGeom prst="rect">
            <a:avLst/>
          </a:prstGeom>
          <a:noFill/>
          <a:ln/>
        </p:spPr>
        <p:txBody>
          <a:bodyPr wrap="square" lIns="0" tIns="0" rIns="0" bIns="0" rtlCol="0" anchor="ctr"/>
          <a:lstStyle/>
          <a:p>
            <a:pPr marL="0" indent="0">
              <a:buNone/>
            </a:pPr>
            <a:r>
              <a:rPr lang="en-US" sz="1200" dirty="0">
                <a:solidFill>
                  <a:srgbClr val="FFFFFF"/>
                </a:solidFill>
              </a:rPr>
              <a:t>4 cables selected</a:t>
            </a:r>
            <a:endParaRPr lang="en-US" sz="1200" dirty="0"/>
          </a:p>
        </p:txBody>
      </p:sp>
      <p:sp>
        <p:nvSpPr>
          <p:cNvPr id="64" name="Text 62"/>
          <p:cNvSpPr txBox="1"/>
          <p:nvPr/>
        </p:nvSpPr>
        <p:spPr>
          <a:xfrm>
            <a:off x="6949440" y="3200400"/>
            <a:ext cx="1645920" cy="228600"/>
          </a:xfrm>
          <a:prstGeom prst="rect">
            <a:avLst/>
          </a:prstGeom>
          <a:noFill/>
          <a:ln/>
        </p:spPr>
        <p:txBody>
          <a:bodyPr wrap="square" lIns="0" tIns="0" rIns="0" bIns="0" rtlCol="0" anchor="ctr"/>
          <a:lstStyle/>
          <a:p>
            <a:pPr marL="0" indent="0">
              <a:buNone/>
            </a:pPr>
            <a:r>
              <a:rPr lang="en-US" sz="1000" b="1" dirty="0">
                <a:solidFill>
                  <a:srgbClr val="4DA3FF"/>
                </a:solidFill>
              </a:rPr>
              <a:t>Chosen edges</a:t>
            </a:r>
            <a:endParaRPr lang="en-US" sz="1000" dirty="0"/>
          </a:p>
        </p:txBody>
      </p:sp>
      <p:sp>
        <p:nvSpPr>
          <p:cNvPr id="65" name="Text 63"/>
          <p:cNvSpPr txBox="1"/>
          <p:nvPr/>
        </p:nvSpPr>
        <p:spPr>
          <a:xfrm>
            <a:off x="6949440" y="3456432"/>
            <a:ext cx="1645920" cy="1097280"/>
          </a:xfrm>
          <a:prstGeom prst="rect">
            <a:avLst/>
          </a:prstGeom>
          <a:noFill/>
          <a:ln/>
        </p:spPr>
        <p:txBody>
          <a:bodyPr wrap="square" lIns="0" tIns="0" rIns="0" bIns="0" rtlCol="0" anchor="t"/>
          <a:lstStyle/>
          <a:p>
            <a:pPr marL="0" indent="0">
              <a:spcAft>
                <a:spcPts val="200"/>
              </a:spcAft>
              <a:buNone/>
            </a:pPr>
            <a:r>
              <a:rPr lang="en-US" sz="1200" dirty="0">
                <a:solidFill>
                  <a:srgbClr val="FFFFFF"/>
                </a:solidFill>
              </a:rPr>
              <a:t>D–E · 1</a:t>
            </a:r>
            <a:endParaRPr lang="en-US" sz="1200" dirty="0"/>
          </a:p>
          <a:p>
            <a:pPr marL="0" indent="0">
              <a:spcAft>
                <a:spcPts val="200"/>
              </a:spcAft>
              <a:buNone/>
            </a:pPr>
            <a:r>
              <a:rPr lang="en-US" sz="1200" dirty="0">
                <a:solidFill>
                  <a:srgbClr val="FFFFFF"/>
                </a:solidFill>
              </a:rPr>
              <a:t>A–C · 2</a:t>
            </a:r>
            <a:endParaRPr lang="en-US" sz="1200" dirty="0"/>
          </a:p>
          <a:p>
            <a:pPr marL="0" indent="0">
              <a:spcAft>
                <a:spcPts val="200"/>
              </a:spcAft>
              <a:buNone/>
            </a:pPr>
            <a:r>
              <a:rPr lang="en-US" sz="1200" dirty="0">
                <a:solidFill>
                  <a:srgbClr val="FFFFFF"/>
                </a:solidFill>
              </a:rPr>
              <a:t>B–D · 3</a:t>
            </a:r>
            <a:endParaRPr lang="en-US" sz="1200" dirty="0"/>
          </a:p>
          <a:p>
            <a:pPr marL="0" indent="0">
              <a:spcAft>
                <a:spcPts val="200"/>
              </a:spcAft>
              <a:buNone/>
            </a:pPr>
            <a:r>
              <a:rPr lang="en-US" sz="1200" dirty="0">
                <a:solidFill>
                  <a:srgbClr val="FFFFFF"/>
                </a:solidFill>
              </a:rPr>
              <a:t>A–B · 4</a:t>
            </a:r>
            <a:endParaRPr lang="en-US" sz="1200" dirty="0"/>
          </a:p>
        </p:txBody>
      </p:sp>
      <p:sp>
        <p:nvSpPr>
          <p:cNvPr id="66"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BA8"/>
                </a:solidFill>
              </a:defRPr>
            </a:lvl1pPr>
          </a:lstStyle>
          <a:p>
            <a:pPr algn="r"/>
            <a:fld id="{F7021451-1387-4CA6-816F-3879F97B5CBC}" type="slidenum">
              <a:rPr lang="en-US" b="0"/>
              <a:t>6</a:t>
            </a:fld>
            <a:endParaRPr lang="en-US"/>
          </a:p>
        </p:txBody>
      </p:sp>
      <p:pic>
        <p:nvPicPr>
          <p:cNvPr id="68" name="Picture 67">
            <a:extLst>
              <a:ext uri="{FF2B5EF4-FFF2-40B4-BE49-F238E27FC236}">
                <a16:creationId xmlns:a16="http://schemas.microsoft.com/office/drawing/2014/main" id="{8E531844-8385-E7EF-8627-406BA7CEA7A3}"/>
              </a:ext>
            </a:extLst>
          </p:cNvPr>
          <p:cNvPicPr>
            <a:picLocks noChangeAspect="1"/>
          </p:cNvPicPr>
          <p:nvPr/>
        </p:nvPicPr>
        <p:blipFill>
          <a:blip r:embed="rId3"/>
          <a:stretch>
            <a:fillRect/>
          </a:stretch>
        </p:blipFill>
        <p:spPr>
          <a:xfrm>
            <a:off x="457200" y="888683"/>
            <a:ext cx="8229600" cy="41405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52B7C-ABB4-A6E5-3D5B-0AE564B0C01B}"/>
              </a:ext>
            </a:extLst>
          </p:cNvPr>
          <p:cNvSpPr>
            <a:spLocks noGrp="1"/>
          </p:cNvSpPr>
          <p:nvPr>
            <p:ph type="title" idx="100"/>
          </p:nvPr>
        </p:nvSpPr>
        <p:spPr/>
        <p:txBody>
          <a:bodyPr/>
          <a:lstStyle/>
          <a:p>
            <a:endParaRPr lang="en-IN"/>
          </a:p>
        </p:txBody>
      </p:sp>
      <p:pic>
        <p:nvPicPr>
          <p:cNvPr id="4" name="Picture 3">
            <a:extLst>
              <a:ext uri="{FF2B5EF4-FFF2-40B4-BE49-F238E27FC236}">
                <a16:creationId xmlns:a16="http://schemas.microsoft.com/office/drawing/2014/main" id="{BADC8E3E-E5B3-1992-6C50-CF417712C473}"/>
              </a:ext>
            </a:extLst>
          </p:cNvPr>
          <p:cNvPicPr>
            <a:picLocks noChangeAspect="1"/>
          </p:cNvPicPr>
          <p:nvPr/>
        </p:nvPicPr>
        <p:blipFill>
          <a:blip r:embed="rId2"/>
          <a:stretch>
            <a:fillRect/>
          </a:stretch>
        </p:blipFill>
        <p:spPr>
          <a:xfrm>
            <a:off x="123419" y="271463"/>
            <a:ext cx="8897161" cy="4476384"/>
          </a:xfrm>
          <a:prstGeom prst="rect">
            <a:avLst/>
          </a:prstGeom>
        </p:spPr>
      </p:pic>
    </p:spTree>
    <p:extLst>
      <p:ext uri="{BB962C8B-B14F-4D97-AF65-F5344CB8AC3E}">
        <p14:creationId xmlns:p14="http://schemas.microsoft.com/office/powerpoint/2010/main" val="1468683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rgbClr val="FFFFFF"/>
                </a:solidFill>
              </a:rPr>
              <a:t>Conclusion &amp; Future Scope</a:t>
            </a:r>
            <a:endParaRPr lang="en-US" sz="3400" dirty="0"/>
          </a:p>
        </p:txBody>
      </p:sp>
      <p:sp>
        <p:nvSpPr>
          <p:cNvPr id="3" name="Text 1"/>
          <p:cNvSpPr txBox="1"/>
          <p:nvPr/>
        </p:nvSpPr>
        <p:spPr>
          <a:xfrm>
            <a:off x="457200" y="1097280"/>
            <a:ext cx="3657600" cy="365760"/>
          </a:xfrm>
          <a:prstGeom prst="rect">
            <a:avLst/>
          </a:prstGeom>
          <a:noFill/>
          <a:ln/>
        </p:spPr>
        <p:txBody>
          <a:bodyPr wrap="square" lIns="0" tIns="0" rIns="0" bIns="0" rtlCol="0" anchor="ctr"/>
          <a:lstStyle/>
          <a:p>
            <a:pPr marL="0" indent="0">
              <a:buNone/>
            </a:pPr>
            <a:r>
              <a:rPr lang="en-US" sz="2000" b="1" dirty="0">
                <a:solidFill>
                  <a:srgbClr val="4DA3FF"/>
                </a:solidFill>
              </a:rPr>
              <a:t>Conclusion</a:t>
            </a:r>
            <a:endParaRPr lang="en-US" sz="2000" dirty="0"/>
          </a:p>
        </p:txBody>
      </p:sp>
      <p:sp>
        <p:nvSpPr>
          <p:cNvPr id="4" name="Text 2"/>
          <p:cNvSpPr txBox="1"/>
          <p:nvPr/>
        </p:nvSpPr>
        <p:spPr>
          <a:xfrm>
            <a:off x="4663440" y="1097280"/>
            <a:ext cx="3657600" cy="365760"/>
          </a:xfrm>
          <a:prstGeom prst="rect">
            <a:avLst/>
          </a:prstGeom>
          <a:noFill/>
          <a:ln/>
        </p:spPr>
        <p:txBody>
          <a:bodyPr wrap="square" lIns="0" tIns="0" rIns="0" bIns="0" rtlCol="0" anchor="ctr"/>
          <a:lstStyle/>
          <a:p>
            <a:pPr marL="0" indent="0">
              <a:buNone/>
            </a:pPr>
            <a:r>
              <a:rPr lang="en-US" sz="2000" b="1" dirty="0">
                <a:solidFill>
                  <a:srgbClr val="4DA3FF"/>
                </a:solidFill>
              </a:rPr>
              <a:t>Future Scope</a:t>
            </a:r>
            <a:endParaRPr lang="en-US" sz="2000" dirty="0"/>
          </a:p>
        </p:txBody>
      </p:sp>
      <p:sp>
        <p:nvSpPr>
          <p:cNvPr id="5" name="Shape 3"/>
          <p:cNvSpPr/>
          <p:nvPr/>
        </p:nvSpPr>
        <p:spPr>
          <a:xfrm>
            <a:off x="457200" y="1600200"/>
            <a:ext cx="3840480" cy="1234440"/>
          </a:xfrm>
          <a:prstGeom prst="roundRect">
            <a:avLst>
              <a:gd name="adj" fmla="val 8889"/>
            </a:avLst>
          </a:prstGeom>
          <a:solidFill>
            <a:srgbClr val="14306E"/>
          </a:solidFill>
          <a:ln w="12700">
            <a:solidFill>
              <a:srgbClr val="14306E"/>
            </a:solidFill>
            <a:prstDash val="solid"/>
          </a:ln>
        </p:spPr>
      </p:sp>
      <p:sp>
        <p:nvSpPr>
          <p:cNvPr id="6" name="Shape 4"/>
          <p:cNvSpPr/>
          <p:nvPr/>
        </p:nvSpPr>
        <p:spPr>
          <a:xfrm>
            <a:off x="754380" y="1965960"/>
            <a:ext cx="502920" cy="502920"/>
          </a:xfrm>
          <a:prstGeom prst="ellipse">
            <a:avLst/>
          </a:prstGeom>
          <a:solidFill>
            <a:srgbClr val="22A66B"/>
          </a:solidFill>
          <a:ln w="12700">
            <a:solidFill>
              <a:srgbClr val="22A66B"/>
            </a:solidFill>
            <a:prstDash val="solid"/>
          </a:ln>
        </p:spPr>
      </p:sp>
      <p:pic>
        <p:nvPicPr>
          <p:cNvPr id="7" name="Image 0" descr="preencoded.png"/>
          <p:cNvPicPr>
            <a:picLocks noChangeAspect="1"/>
          </p:cNvPicPr>
          <p:nvPr/>
        </p:nvPicPr>
        <p:blipFill>
          <a:blip r:embed="rId3"/>
          <a:stretch>
            <a:fillRect/>
          </a:stretch>
        </p:blipFill>
        <p:spPr>
          <a:xfrm>
            <a:off x="880110" y="2091690"/>
            <a:ext cx="251460" cy="251460"/>
          </a:xfrm>
          <a:prstGeom prst="rect">
            <a:avLst/>
          </a:prstGeom>
        </p:spPr>
      </p:pic>
      <p:sp>
        <p:nvSpPr>
          <p:cNvPr id="8" name="Text 5"/>
          <p:cNvSpPr txBox="1"/>
          <p:nvPr/>
        </p:nvSpPr>
        <p:spPr>
          <a:xfrm>
            <a:off x="1463040" y="1691640"/>
            <a:ext cx="2697480" cy="1051560"/>
          </a:xfrm>
          <a:prstGeom prst="rect">
            <a:avLst/>
          </a:prstGeom>
          <a:noFill/>
          <a:ln/>
        </p:spPr>
        <p:txBody>
          <a:bodyPr wrap="square" lIns="0" tIns="0" rIns="0" bIns="0" rtlCol="0" anchor="ctr"/>
          <a:lstStyle/>
          <a:p>
            <a:pPr marL="0" indent="0">
              <a:buNone/>
            </a:pPr>
            <a:r>
              <a:rPr lang="en-US" sz="1600" b="1" dirty="0">
                <a:solidFill>
                  <a:srgbClr val="FFFFFF"/>
                </a:solidFill>
              </a:rPr>
              <a:t>Successfully finds a minimum-cost campus network</a:t>
            </a:r>
            <a:endParaRPr lang="en-US" sz="1600" dirty="0"/>
          </a:p>
        </p:txBody>
      </p:sp>
      <p:sp>
        <p:nvSpPr>
          <p:cNvPr id="9" name="Shape 6"/>
          <p:cNvSpPr/>
          <p:nvPr/>
        </p:nvSpPr>
        <p:spPr>
          <a:xfrm>
            <a:off x="457200" y="2971800"/>
            <a:ext cx="3840480" cy="1234440"/>
          </a:xfrm>
          <a:prstGeom prst="roundRect">
            <a:avLst>
              <a:gd name="adj" fmla="val 8889"/>
            </a:avLst>
          </a:prstGeom>
          <a:solidFill>
            <a:srgbClr val="14306E"/>
          </a:solidFill>
          <a:ln w="12700">
            <a:solidFill>
              <a:srgbClr val="14306E"/>
            </a:solidFill>
            <a:prstDash val="solid"/>
          </a:ln>
        </p:spPr>
      </p:sp>
      <p:sp>
        <p:nvSpPr>
          <p:cNvPr id="10" name="Shape 7"/>
          <p:cNvSpPr/>
          <p:nvPr/>
        </p:nvSpPr>
        <p:spPr>
          <a:xfrm>
            <a:off x="754380" y="3337560"/>
            <a:ext cx="502920" cy="502920"/>
          </a:xfrm>
          <a:prstGeom prst="ellipse">
            <a:avLst/>
          </a:prstGeom>
          <a:solidFill>
            <a:srgbClr val="22A66B"/>
          </a:solidFill>
          <a:ln w="12700">
            <a:solidFill>
              <a:srgbClr val="22A66B"/>
            </a:solidFill>
            <a:prstDash val="solid"/>
          </a:ln>
        </p:spPr>
      </p:sp>
      <p:pic>
        <p:nvPicPr>
          <p:cNvPr id="11" name="Image 1" descr="preencoded.png"/>
          <p:cNvPicPr>
            <a:picLocks noChangeAspect="1"/>
          </p:cNvPicPr>
          <p:nvPr/>
        </p:nvPicPr>
        <p:blipFill>
          <a:blip r:embed="rId3"/>
          <a:stretch>
            <a:fillRect/>
          </a:stretch>
        </p:blipFill>
        <p:spPr>
          <a:xfrm>
            <a:off x="880110" y="3463290"/>
            <a:ext cx="251460" cy="251460"/>
          </a:xfrm>
          <a:prstGeom prst="rect">
            <a:avLst/>
          </a:prstGeom>
        </p:spPr>
      </p:pic>
      <p:sp>
        <p:nvSpPr>
          <p:cNvPr id="12" name="Text 8"/>
          <p:cNvSpPr txBox="1"/>
          <p:nvPr/>
        </p:nvSpPr>
        <p:spPr>
          <a:xfrm>
            <a:off x="1463040" y="3063240"/>
            <a:ext cx="2697480" cy="1051560"/>
          </a:xfrm>
          <a:prstGeom prst="rect">
            <a:avLst/>
          </a:prstGeom>
          <a:noFill/>
          <a:ln/>
        </p:spPr>
        <p:txBody>
          <a:bodyPr wrap="square" lIns="0" tIns="0" rIns="0" bIns="0" rtlCol="0" anchor="ctr"/>
          <a:lstStyle/>
          <a:p>
            <a:pPr marL="0" indent="0">
              <a:buNone/>
            </a:pPr>
            <a:r>
              <a:rPr lang="en-US" sz="1600" b="1" dirty="0">
                <a:solidFill>
                  <a:srgbClr val="FFFFFF"/>
                </a:solidFill>
              </a:rPr>
              <a:t>Demonstrates Kruskal’s Algorithm with Union-Find</a:t>
            </a:r>
            <a:endParaRPr lang="en-US" sz="1600" dirty="0"/>
          </a:p>
        </p:txBody>
      </p:sp>
      <p:sp>
        <p:nvSpPr>
          <p:cNvPr id="13" name="Shape 9"/>
          <p:cNvSpPr/>
          <p:nvPr/>
        </p:nvSpPr>
        <p:spPr>
          <a:xfrm>
            <a:off x="4663440" y="1600200"/>
            <a:ext cx="1920240" cy="1234440"/>
          </a:xfrm>
          <a:prstGeom prst="roundRect">
            <a:avLst>
              <a:gd name="adj" fmla="val 8889"/>
            </a:avLst>
          </a:prstGeom>
          <a:solidFill>
            <a:srgbClr val="14306E"/>
          </a:solidFill>
          <a:ln w="12700">
            <a:solidFill>
              <a:srgbClr val="14306E"/>
            </a:solidFill>
            <a:prstDash val="solid"/>
          </a:ln>
        </p:spPr>
      </p:sp>
      <p:sp>
        <p:nvSpPr>
          <p:cNvPr id="14" name="Shape 10"/>
          <p:cNvSpPr/>
          <p:nvPr/>
        </p:nvSpPr>
        <p:spPr>
          <a:xfrm>
            <a:off x="4983480" y="1737360"/>
            <a:ext cx="457200" cy="457200"/>
          </a:xfrm>
          <a:prstGeom prst="ellipse">
            <a:avLst/>
          </a:prstGeom>
          <a:solidFill>
            <a:srgbClr val="1E6FE0"/>
          </a:solidFill>
          <a:ln w="12700">
            <a:solidFill>
              <a:srgbClr val="1E6FE0"/>
            </a:solidFill>
            <a:prstDash val="solid"/>
          </a:ln>
        </p:spPr>
      </p:sp>
      <p:pic>
        <p:nvPicPr>
          <p:cNvPr id="15" name="Image 2" descr="preencoded.png"/>
          <p:cNvPicPr>
            <a:picLocks noChangeAspect="1"/>
          </p:cNvPicPr>
          <p:nvPr/>
        </p:nvPicPr>
        <p:blipFill>
          <a:blip r:embed="rId4"/>
          <a:stretch>
            <a:fillRect/>
          </a:stretch>
        </p:blipFill>
        <p:spPr>
          <a:xfrm>
            <a:off x="5097780" y="1851660"/>
            <a:ext cx="228600" cy="228600"/>
          </a:xfrm>
          <a:prstGeom prst="rect">
            <a:avLst/>
          </a:prstGeom>
        </p:spPr>
      </p:pic>
      <p:sp>
        <p:nvSpPr>
          <p:cNvPr id="16" name="Text 11"/>
          <p:cNvSpPr txBox="1"/>
          <p:nvPr/>
        </p:nvSpPr>
        <p:spPr>
          <a:xfrm>
            <a:off x="4846320" y="2313432"/>
            <a:ext cx="1645920" cy="411480"/>
          </a:xfrm>
          <a:prstGeom prst="rect">
            <a:avLst/>
          </a:prstGeom>
          <a:noFill/>
          <a:ln/>
        </p:spPr>
        <p:txBody>
          <a:bodyPr wrap="square" lIns="0" tIns="0" rIns="0" bIns="0" rtlCol="0" anchor="ctr"/>
          <a:lstStyle/>
          <a:p>
            <a:pPr marL="0" indent="0">
              <a:buNone/>
            </a:pPr>
            <a:r>
              <a:rPr lang="en-US" sz="1400" b="1" dirty="0">
                <a:solidFill>
                  <a:srgbClr val="FFFFFF"/>
                </a:solidFill>
              </a:rPr>
              <a:t>Real campus maps</a:t>
            </a:r>
            <a:endParaRPr lang="en-US" sz="1400" dirty="0"/>
          </a:p>
        </p:txBody>
      </p:sp>
      <p:sp>
        <p:nvSpPr>
          <p:cNvPr id="17" name="Shape 12"/>
          <p:cNvSpPr/>
          <p:nvPr/>
        </p:nvSpPr>
        <p:spPr>
          <a:xfrm>
            <a:off x="6766560" y="1600200"/>
            <a:ext cx="1920240" cy="1234440"/>
          </a:xfrm>
          <a:prstGeom prst="roundRect">
            <a:avLst>
              <a:gd name="adj" fmla="val 8889"/>
            </a:avLst>
          </a:prstGeom>
          <a:solidFill>
            <a:srgbClr val="14306E"/>
          </a:solidFill>
          <a:ln w="12700">
            <a:solidFill>
              <a:srgbClr val="14306E"/>
            </a:solidFill>
            <a:prstDash val="solid"/>
          </a:ln>
        </p:spPr>
      </p:sp>
      <p:sp>
        <p:nvSpPr>
          <p:cNvPr id="18" name="Shape 13"/>
          <p:cNvSpPr/>
          <p:nvPr/>
        </p:nvSpPr>
        <p:spPr>
          <a:xfrm>
            <a:off x="7086600" y="1737360"/>
            <a:ext cx="457200" cy="457200"/>
          </a:xfrm>
          <a:prstGeom prst="ellipse">
            <a:avLst/>
          </a:prstGeom>
          <a:solidFill>
            <a:srgbClr val="1E6FE0"/>
          </a:solidFill>
          <a:ln w="12700">
            <a:solidFill>
              <a:srgbClr val="1E6FE0"/>
            </a:solidFill>
            <a:prstDash val="solid"/>
          </a:ln>
        </p:spPr>
      </p:sp>
      <p:pic>
        <p:nvPicPr>
          <p:cNvPr id="19" name="Image 3" descr="preencoded.png"/>
          <p:cNvPicPr>
            <a:picLocks noChangeAspect="1"/>
          </p:cNvPicPr>
          <p:nvPr/>
        </p:nvPicPr>
        <p:blipFill>
          <a:blip r:embed="rId5"/>
          <a:stretch>
            <a:fillRect/>
          </a:stretch>
        </p:blipFill>
        <p:spPr>
          <a:xfrm>
            <a:off x="7200900" y="1851660"/>
            <a:ext cx="228600" cy="228600"/>
          </a:xfrm>
          <a:prstGeom prst="rect">
            <a:avLst/>
          </a:prstGeom>
        </p:spPr>
      </p:pic>
      <p:sp>
        <p:nvSpPr>
          <p:cNvPr id="20" name="Text 14"/>
          <p:cNvSpPr txBox="1"/>
          <p:nvPr/>
        </p:nvSpPr>
        <p:spPr>
          <a:xfrm>
            <a:off x="6949440" y="2313432"/>
            <a:ext cx="1645920" cy="411480"/>
          </a:xfrm>
          <a:prstGeom prst="rect">
            <a:avLst/>
          </a:prstGeom>
          <a:noFill/>
          <a:ln/>
        </p:spPr>
        <p:txBody>
          <a:bodyPr wrap="square" lIns="0" tIns="0" rIns="0" bIns="0" rtlCol="0" anchor="ctr"/>
          <a:lstStyle/>
          <a:p>
            <a:pPr marL="0" indent="0">
              <a:buNone/>
            </a:pPr>
            <a:r>
              <a:rPr lang="en-US" sz="1400" b="1" dirty="0">
                <a:solidFill>
                  <a:srgbClr val="FFFFFF"/>
                </a:solidFill>
              </a:rPr>
              <a:t>Larger networks</a:t>
            </a:r>
            <a:endParaRPr lang="en-US" sz="1400" dirty="0"/>
          </a:p>
        </p:txBody>
      </p:sp>
      <p:sp>
        <p:nvSpPr>
          <p:cNvPr id="21" name="Shape 15"/>
          <p:cNvSpPr/>
          <p:nvPr/>
        </p:nvSpPr>
        <p:spPr>
          <a:xfrm>
            <a:off x="4663440" y="2971800"/>
            <a:ext cx="1920240" cy="1234440"/>
          </a:xfrm>
          <a:prstGeom prst="roundRect">
            <a:avLst>
              <a:gd name="adj" fmla="val 8889"/>
            </a:avLst>
          </a:prstGeom>
          <a:solidFill>
            <a:srgbClr val="14306E"/>
          </a:solidFill>
          <a:ln w="12700">
            <a:solidFill>
              <a:srgbClr val="14306E"/>
            </a:solidFill>
            <a:prstDash val="solid"/>
          </a:ln>
        </p:spPr>
      </p:sp>
      <p:sp>
        <p:nvSpPr>
          <p:cNvPr id="22" name="Shape 16"/>
          <p:cNvSpPr/>
          <p:nvPr/>
        </p:nvSpPr>
        <p:spPr>
          <a:xfrm>
            <a:off x="4983480" y="3108960"/>
            <a:ext cx="457200" cy="457200"/>
          </a:xfrm>
          <a:prstGeom prst="ellipse">
            <a:avLst/>
          </a:prstGeom>
          <a:solidFill>
            <a:srgbClr val="1E6FE0"/>
          </a:solidFill>
          <a:ln w="12700">
            <a:solidFill>
              <a:srgbClr val="1E6FE0"/>
            </a:solidFill>
            <a:prstDash val="solid"/>
          </a:ln>
        </p:spPr>
      </p:sp>
      <p:pic>
        <p:nvPicPr>
          <p:cNvPr id="23" name="Image 4" descr="preencoded.png"/>
          <p:cNvPicPr>
            <a:picLocks noChangeAspect="1"/>
          </p:cNvPicPr>
          <p:nvPr/>
        </p:nvPicPr>
        <p:blipFill>
          <a:blip r:embed="rId6"/>
          <a:stretch>
            <a:fillRect/>
          </a:stretch>
        </p:blipFill>
        <p:spPr>
          <a:xfrm>
            <a:off x="5097780" y="3223260"/>
            <a:ext cx="228600" cy="228600"/>
          </a:xfrm>
          <a:prstGeom prst="rect">
            <a:avLst/>
          </a:prstGeom>
        </p:spPr>
      </p:pic>
      <p:sp>
        <p:nvSpPr>
          <p:cNvPr id="24" name="Text 17"/>
          <p:cNvSpPr txBox="1"/>
          <p:nvPr/>
        </p:nvSpPr>
        <p:spPr>
          <a:xfrm>
            <a:off x="4846320" y="3685032"/>
            <a:ext cx="1645920" cy="411480"/>
          </a:xfrm>
          <a:prstGeom prst="rect">
            <a:avLst/>
          </a:prstGeom>
          <a:noFill/>
          <a:ln/>
        </p:spPr>
        <p:txBody>
          <a:bodyPr wrap="square" lIns="0" tIns="0" rIns="0" bIns="0" rtlCol="0" anchor="ctr"/>
          <a:lstStyle/>
          <a:p>
            <a:pPr marL="0" indent="0">
              <a:buNone/>
            </a:pPr>
            <a:r>
              <a:rPr lang="en-US" sz="1400" b="1" dirty="0">
                <a:solidFill>
                  <a:srgbClr val="FFFFFF"/>
                </a:solidFill>
              </a:rPr>
              <a:t>Live data</a:t>
            </a:r>
            <a:endParaRPr lang="en-US" sz="1400" dirty="0"/>
          </a:p>
        </p:txBody>
      </p:sp>
      <p:sp>
        <p:nvSpPr>
          <p:cNvPr id="25" name="Shape 18"/>
          <p:cNvSpPr/>
          <p:nvPr/>
        </p:nvSpPr>
        <p:spPr>
          <a:xfrm>
            <a:off x="6766560" y="2971800"/>
            <a:ext cx="1920240" cy="1234440"/>
          </a:xfrm>
          <a:prstGeom prst="roundRect">
            <a:avLst>
              <a:gd name="adj" fmla="val 8889"/>
            </a:avLst>
          </a:prstGeom>
          <a:solidFill>
            <a:srgbClr val="14306E"/>
          </a:solidFill>
          <a:ln w="12700">
            <a:solidFill>
              <a:srgbClr val="14306E"/>
            </a:solidFill>
            <a:prstDash val="solid"/>
          </a:ln>
        </p:spPr>
      </p:sp>
      <p:sp>
        <p:nvSpPr>
          <p:cNvPr id="26" name="Shape 19"/>
          <p:cNvSpPr/>
          <p:nvPr/>
        </p:nvSpPr>
        <p:spPr>
          <a:xfrm>
            <a:off x="7086600" y="3108960"/>
            <a:ext cx="457200" cy="457200"/>
          </a:xfrm>
          <a:prstGeom prst="ellipse">
            <a:avLst/>
          </a:prstGeom>
          <a:solidFill>
            <a:srgbClr val="1E6FE0"/>
          </a:solidFill>
          <a:ln w="12700">
            <a:solidFill>
              <a:srgbClr val="1E6FE0"/>
            </a:solidFill>
            <a:prstDash val="solid"/>
          </a:ln>
        </p:spPr>
      </p:sp>
      <p:pic>
        <p:nvPicPr>
          <p:cNvPr id="27" name="Image 5" descr="preencoded.png"/>
          <p:cNvPicPr>
            <a:picLocks noChangeAspect="1"/>
          </p:cNvPicPr>
          <p:nvPr/>
        </p:nvPicPr>
        <p:blipFill>
          <a:blip r:embed="rId7"/>
          <a:stretch>
            <a:fillRect/>
          </a:stretch>
        </p:blipFill>
        <p:spPr>
          <a:xfrm>
            <a:off x="7200900" y="3223260"/>
            <a:ext cx="228600" cy="228600"/>
          </a:xfrm>
          <a:prstGeom prst="rect">
            <a:avLst/>
          </a:prstGeom>
        </p:spPr>
      </p:pic>
      <p:sp>
        <p:nvSpPr>
          <p:cNvPr id="28" name="Text 20"/>
          <p:cNvSpPr txBox="1"/>
          <p:nvPr/>
        </p:nvSpPr>
        <p:spPr>
          <a:xfrm>
            <a:off x="6949440" y="3685032"/>
            <a:ext cx="1645920" cy="411480"/>
          </a:xfrm>
          <a:prstGeom prst="rect">
            <a:avLst/>
          </a:prstGeom>
          <a:noFill/>
          <a:ln/>
        </p:spPr>
        <p:txBody>
          <a:bodyPr wrap="square" lIns="0" tIns="0" rIns="0" bIns="0" rtlCol="0" anchor="ctr"/>
          <a:lstStyle/>
          <a:p>
            <a:pPr marL="0" indent="0">
              <a:buNone/>
            </a:pPr>
            <a:r>
              <a:rPr lang="en-US" sz="1400" b="1" dirty="0">
                <a:solidFill>
                  <a:srgbClr val="FFFFFF"/>
                </a:solidFill>
              </a:rPr>
              <a:t>Cost analysis</a:t>
            </a:r>
            <a:endParaRPr lang="en-US" sz="1400" dirty="0"/>
          </a:p>
        </p:txBody>
      </p:sp>
      <p:sp>
        <p:nvSpPr>
          <p:cNvPr id="29"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BA8"/>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CampusNet">
  <a:themeElements>
    <a:clrScheme name="CampusNet">
      <a:dk1>
        <a:srgbClr val="0B1F4B"/>
      </a:dk1>
      <a:lt1>
        <a:srgbClr val="FFFFFF"/>
      </a:lt1>
      <a:dk2>
        <a:srgbClr val="14306E"/>
      </a:dk2>
      <a:lt2>
        <a:srgbClr val="EAF2FD"/>
      </a:lt2>
      <a:accent1>
        <a:srgbClr val="1E6FE0"/>
      </a:accent1>
      <a:accent2>
        <a:srgbClr val="4DA3FF"/>
      </a:accent2>
      <a:accent3>
        <a:srgbClr val="22A66B"/>
      </a:accent3>
      <a:accent4>
        <a:srgbClr val="7A93C4"/>
      </a:accent4>
      <a:accent5>
        <a:srgbClr val="E0533D"/>
      </a:accent5>
      <a:accent6>
        <a:srgbClr val="CADCFC"/>
      </a:accent6>
      <a:hlink>
        <a:srgbClr val="1E6FE0"/>
      </a:hlink>
      <a:folHlink>
        <a:srgbClr val="7A93C4"/>
      </a:folHlink>
    </a:clrScheme>
    <a:fontScheme name="CampusNe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773</Words>
  <Application>Microsoft Office PowerPoint</Application>
  <PresentationFormat>On-screen Show (16:9)</PresentationFormat>
  <Paragraphs>151</Paragraphs>
  <Slides>8</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CampusNet</vt:lpstr>
      <vt:lpstr>PowerPoint Presentation</vt:lpstr>
      <vt:lpstr>Problem Statement &amp; Objective</vt:lpstr>
      <vt:lpstr>Proposed Solution</vt:lpstr>
      <vt:lpstr>Technology &amp; Architecture</vt:lpstr>
      <vt:lpstr>How the Algorithm Works</vt:lpstr>
      <vt:lpstr>Website &amp; Results</vt:lpstr>
      <vt:lpstr>PowerPoint Presentation</vt:lpstr>
      <vt:lpstr>Conclusion &amp; Future Scope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Minimum Network Designer using Kruskal's Algorithm</dc:title>
  <dc:subject>PptxGenJS Presentation</dc:subject>
  <dc:creator>PptxGenJS</dc:creator>
  <cp:lastModifiedBy>Gara Manikanta</cp:lastModifiedBy>
  <cp:revision>2</cp:revision>
  <dcterms:created xsi:type="dcterms:W3CDTF">2026-10-03T05:56:18Z</dcterms:created>
  <dcterms:modified xsi:type="dcterms:W3CDTF">2026-10-03T06:11:48Z</dcterms:modified>
</cp:coreProperties>
</file>